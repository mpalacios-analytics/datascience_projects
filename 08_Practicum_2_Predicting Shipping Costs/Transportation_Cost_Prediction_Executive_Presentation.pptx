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F66E5F-A226-4E35-8463-427D7F6E817D}" v="2" dt="2026-08-19T02:28:48.0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6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tiana palacios" userId="3cb085085ed44d29" providerId="LiveId" clId="{E8F264A4-F950-446F-8A83-18451A428B83}"/>
    <pc:docChg chg="custSel addSld delSld modSld">
      <pc:chgData name="tatiana palacios" userId="3cb085085ed44d29" providerId="LiveId" clId="{E8F264A4-F950-446F-8A83-18451A428B83}" dt="2026-08-19T02:28:48.022" v="34"/>
      <pc:docMkLst>
        <pc:docMk/>
      </pc:docMkLst>
      <pc:sldChg chg="modSp mod">
        <pc:chgData name="tatiana palacios" userId="3cb085085ed44d29" providerId="LiveId" clId="{E8F264A4-F950-446F-8A83-18451A428B83}" dt="2026-08-19T02:24:26.895" v="10" actId="1076"/>
        <pc:sldMkLst>
          <pc:docMk/>
          <pc:sldMk cId="3102675872" sldId="256"/>
        </pc:sldMkLst>
        <pc:spChg chg="mod">
          <ac:chgData name="tatiana palacios" userId="3cb085085ed44d29" providerId="LiveId" clId="{E8F264A4-F950-446F-8A83-18451A428B83}" dt="2026-08-19T02:24:26.895" v="10" actId="1076"/>
          <ac:spMkLst>
            <pc:docMk/>
            <pc:sldMk cId="3102675872" sldId="256"/>
            <ac:spMk id="2" creationId="{EED969DA-D8A9-1905-9583-540A8A809B85}"/>
          </ac:spMkLst>
        </pc:spChg>
      </pc:sldChg>
      <pc:sldChg chg="delSp modSp mod">
        <pc:chgData name="tatiana palacios" userId="3cb085085ed44d29" providerId="LiveId" clId="{E8F264A4-F950-446F-8A83-18451A428B83}" dt="2026-08-19T02:24:45.510" v="12" actId="1076"/>
        <pc:sldMkLst>
          <pc:docMk/>
          <pc:sldMk cId="1621312256" sldId="257"/>
        </pc:sldMkLst>
        <pc:spChg chg="mod">
          <ac:chgData name="tatiana palacios" userId="3cb085085ed44d29" providerId="LiveId" clId="{E8F264A4-F950-446F-8A83-18451A428B83}" dt="2026-08-19T02:24:42.204" v="11" actId="1076"/>
          <ac:spMkLst>
            <pc:docMk/>
            <pc:sldMk cId="1621312256" sldId="257"/>
            <ac:spMk id="7" creationId="{9DF13477-967E-4562-9334-167A53A59B9C}"/>
          </ac:spMkLst>
        </pc:spChg>
        <pc:spChg chg="mod">
          <ac:chgData name="tatiana palacios" userId="3cb085085ed44d29" providerId="LiveId" clId="{E8F264A4-F950-446F-8A83-18451A428B83}" dt="2026-08-19T02:24:45.510" v="12" actId="1076"/>
          <ac:spMkLst>
            <pc:docMk/>
            <pc:sldMk cId="1621312256" sldId="257"/>
            <ac:spMk id="8" creationId="{042ADBD4-79D2-45D2-9ED1-130C090B8E30}"/>
          </ac:spMkLst>
        </pc:spChg>
        <pc:spChg chg="del">
          <ac:chgData name="tatiana palacios" userId="3cb085085ed44d29" providerId="LiveId" clId="{E8F264A4-F950-446F-8A83-18451A428B83}" dt="2026-08-19T02:23:59.140" v="1" actId="478"/>
          <ac:spMkLst>
            <pc:docMk/>
            <pc:sldMk cId="1621312256" sldId="257"/>
            <ac:spMk id="9" creationId="{4EC77C0E-1BC3-4959-8F66-CE1D1FD1A5A6}"/>
          </ac:spMkLst>
        </pc:spChg>
        <pc:spChg chg="del">
          <ac:chgData name="tatiana palacios" userId="3cb085085ed44d29" providerId="LiveId" clId="{E8F264A4-F950-446F-8A83-18451A428B83}" dt="2026-08-19T02:23:54.812" v="0" actId="478"/>
          <ac:spMkLst>
            <pc:docMk/>
            <pc:sldMk cId="1621312256" sldId="257"/>
            <ac:spMk id="10" creationId="{5BEAB12D-92E4-4197-B8D8-F42C71608381}"/>
          </ac:spMkLst>
        </pc:spChg>
      </pc:sldChg>
      <pc:sldChg chg="delSp modSp new del mod">
        <pc:chgData name="tatiana palacios" userId="3cb085085ed44d29" providerId="LiveId" clId="{E8F264A4-F950-446F-8A83-18451A428B83}" dt="2026-08-19T02:27:14.779" v="32" actId="47"/>
        <pc:sldMkLst>
          <pc:docMk/>
          <pc:sldMk cId="3767857319" sldId="269"/>
        </pc:sldMkLst>
        <pc:spChg chg="del mod">
          <ac:chgData name="tatiana palacios" userId="3cb085085ed44d29" providerId="LiveId" clId="{E8F264A4-F950-446F-8A83-18451A428B83}" dt="2026-08-19T02:26:51.706" v="27" actId="478"/>
          <ac:spMkLst>
            <pc:docMk/>
            <pc:sldMk cId="3767857319" sldId="269"/>
            <ac:spMk id="2" creationId="{4B877B3D-4909-3A31-4755-A2FC43AE41ED}"/>
          </ac:spMkLst>
        </pc:spChg>
        <pc:spChg chg="mod">
          <ac:chgData name="tatiana palacios" userId="3cb085085ed44d29" providerId="LiveId" clId="{E8F264A4-F950-446F-8A83-18451A428B83}" dt="2026-08-19T02:27:08.636" v="31" actId="5793"/>
          <ac:spMkLst>
            <pc:docMk/>
            <pc:sldMk cId="3767857319" sldId="269"/>
            <ac:spMk id="3" creationId="{90E1D415-C8D8-8F21-45D2-D9B420B7F63B}"/>
          </ac:spMkLst>
        </pc:spChg>
      </pc:sldChg>
      <pc:sldChg chg="delSp add setBg delDesignElem">
        <pc:chgData name="tatiana palacios" userId="3cb085085ed44d29" providerId="LiveId" clId="{E8F264A4-F950-446F-8A83-18451A428B83}" dt="2026-08-19T02:28:48.022" v="34"/>
        <pc:sldMkLst>
          <pc:docMk/>
          <pc:sldMk cId="3951211941" sldId="278"/>
        </pc:sldMkLst>
        <pc:spChg chg="del">
          <ac:chgData name="tatiana palacios" userId="3cb085085ed44d29" providerId="LiveId" clId="{E8F264A4-F950-446F-8A83-18451A428B83}" dt="2026-08-19T02:28:48.022" v="34"/>
          <ac:spMkLst>
            <pc:docMk/>
            <pc:sldMk cId="3951211941" sldId="278"/>
            <ac:spMk id="10" creationId="{4E4490D0-3672-446A-AC12-B4830333BDDD}"/>
          </ac:spMkLst>
        </pc:spChg>
        <pc:spChg chg="del">
          <ac:chgData name="tatiana palacios" userId="3cb085085ed44d29" providerId="LiveId" clId="{E8F264A4-F950-446F-8A83-18451A428B83}" dt="2026-08-19T02:28:48.022" v="34"/>
          <ac:spMkLst>
            <pc:docMk/>
            <pc:sldMk cId="3951211941" sldId="278"/>
            <ac:spMk id="12" creationId="{39CB82C2-DF65-4EC1-8280-F201D50F570B}"/>
          </ac:spMkLst>
        </pc:spChg>
        <pc:spChg chg="del">
          <ac:chgData name="tatiana palacios" userId="3cb085085ed44d29" providerId="LiveId" clId="{E8F264A4-F950-446F-8A83-18451A428B83}" dt="2026-08-19T02:28:48.022" v="34"/>
          <ac:spMkLst>
            <pc:docMk/>
            <pc:sldMk cId="3951211941" sldId="278"/>
            <ac:spMk id="16" creationId="{AE220058-3FCE-496E-ADF2-D8A6961F39F6}"/>
          </ac:spMkLst>
        </pc:spChg>
        <pc:spChg chg="del">
          <ac:chgData name="tatiana palacios" userId="3cb085085ed44d29" providerId="LiveId" clId="{E8F264A4-F950-446F-8A83-18451A428B83}" dt="2026-08-19T02:28:48.022" v="34"/>
          <ac:spMkLst>
            <pc:docMk/>
            <pc:sldMk cId="3951211941" sldId="278"/>
            <ac:spMk id="20" creationId="{3E9C5090-7D25-41E3-A6D3-CCAEE505E785}"/>
          </ac:spMkLst>
        </pc:spChg>
        <pc:spChg chg="del">
          <ac:chgData name="tatiana palacios" userId="3cb085085ed44d29" providerId="LiveId" clId="{E8F264A4-F950-446F-8A83-18451A428B83}" dt="2026-08-19T02:28:48.022" v="34"/>
          <ac:spMkLst>
            <pc:docMk/>
            <pc:sldMk cId="3951211941" sldId="278"/>
            <ac:spMk id="22" creationId="{11BF8809-0DAC-41E5-A212-ACB4A01BE95B}"/>
          </ac:spMkLst>
        </pc:spChg>
        <pc:cxnChg chg="del">
          <ac:chgData name="tatiana palacios" userId="3cb085085ed44d29" providerId="LiveId" clId="{E8F264A4-F950-446F-8A83-18451A428B83}" dt="2026-08-19T02:28:48.022" v="34"/>
          <ac:cxnSpMkLst>
            <pc:docMk/>
            <pc:sldMk cId="3951211941" sldId="278"/>
            <ac:cxnSpMk id="14" creationId="{7E1D4427-852B-4B37-8E76-0E9F1810BA2A}"/>
          </ac:cxnSpMkLst>
        </pc:cxnChg>
        <pc:cxnChg chg="del">
          <ac:chgData name="tatiana palacios" userId="3cb085085ed44d29" providerId="LiveId" clId="{E8F264A4-F950-446F-8A83-18451A428B83}" dt="2026-08-19T02:28:48.022" v="34"/>
          <ac:cxnSpMkLst>
            <pc:docMk/>
            <pc:sldMk cId="3951211941" sldId="278"/>
            <ac:cxnSpMk id="18" creationId="{E193F809-7E50-4AAD-8E26-878207931CB5}"/>
          </ac:cxnSpMkLst>
        </pc:cxn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Finalized shipments</c:v>
          </c:tx>
          <c:invertIfNegative val="1"/>
          <c:dPt>
            <c:idx val="0"/>
            <c:invertIfNegative val="0"/>
            <c:bubble3D val="0"/>
            <c:spPr>
              <a:solidFill>
                <a:srgbClr val="2A9D8F"/>
              </a:solidFill>
            </c:spPr>
            <c:extLst>
              <c:ext xmlns:c16="http://schemas.microsoft.com/office/drawing/2014/chart" uri="{C3380CC4-5D6E-409C-BE32-E72D297353CC}">
                <c16:uniqueId val="{00000001-759C-4FA1-837C-E4A612C1A1E8}"/>
              </c:ext>
            </c:extLst>
          </c:dPt>
          <c:dPt>
            <c:idx val="1"/>
            <c:invertIfNegative val="0"/>
            <c:bubble3D val="0"/>
            <c:spPr>
              <a:solidFill>
                <a:srgbClr val="3494BA"/>
              </a:solidFill>
            </c:spPr>
            <c:extLst>
              <c:ext xmlns:c16="http://schemas.microsoft.com/office/drawing/2014/chart" uri="{C3380CC4-5D6E-409C-BE32-E72D297353CC}">
                <c16:uniqueId val="{00000003-759C-4FA1-837C-E4A612C1A1E8}"/>
              </c:ext>
            </c:extLst>
          </c:dPt>
          <c:dPt>
            <c:idx val="2"/>
            <c:invertIfNegative val="0"/>
            <c:bubble3D val="0"/>
            <c:spPr>
              <a:solidFill>
                <a:srgbClr val="AAB7C0"/>
              </a:solidFill>
            </c:spPr>
            <c:extLst>
              <c:ext xmlns:c16="http://schemas.microsoft.com/office/drawing/2014/chart" uri="{C3380CC4-5D6E-409C-BE32-E72D297353CC}">
                <c16:uniqueId val="{00000005-759C-4FA1-837C-E4A612C1A1E8}"/>
              </c:ext>
            </c:extLst>
          </c:dPt>
          <c:dLbls>
            <c:spPr>
              <a:noFill/>
              <a:ln>
                <a:noFill/>
              </a:ln>
              <a:effectLst/>
            </c:spPr>
            <c:txPr>
              <a:bodyPr anchorCtr="1"/>
              <a:lstStyle/>
              <a:p>
                <a:pPr>
                  <a:defRPr sz="1275" b="1">
                    <a:solidFill>
                      <a:srgbClr val="373545"/>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SEA</c:v>
              </c:pt>
              <c:pt idx="1">
                <c:v>AIR</c:v>
              </c:pt>
              <c:pt idx="2">
                <c:v>Other</c:v>
              </c:pt>
            </c:strLit>
          </c:cat>
          <c:val>
            <c:numLit>
              <c:formatCode>General</c:formatCode>
              <c:ptCount val="3"/>
              <c:pt idx="0">
                <c:v>4247</c:v>
              </c:pt>
              <c:pt idx="1">
                <c:v>2220</c:v>
              </c:pt>
              <c:pt idx="2">
                <c:v>700</c:v>
              </c:pt>
            </c:numLit>
          </c:val>
          <c:extLst>
            <c:ext xmlns:c16="http://schemas.microsoft.com/office/drawing/2014/chart" uri="{C3380CC4-5D6E-409C-BE32-E72D297353CC}">
              <c16:uniqueId val="{00000006-759C-4FA1-837C-E4A612C1A1E8}"/>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D9E2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noFill/>
        <a:ln w="0">
          <a:noFill/>
          <a:prstDash val="solid"/>
        </a:ln>
      </c:spPr>
    </c:plotArea>
    <c:plotVisOnly val="1"/>
    <c:dispBlanksAs val="zero"/>
    <c:showDLblsOverMax val="1"/>
  </c:chart>
  <c:spPr>
    <a:noFill/>
    <a:ln w="0">
      <a:noFill/>
      <a:prstDash val="solid"/>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Median final cost</c:v>
          </c:tx>
          <c:invertIfNegative val="1"/>
          <c:dPt>
            <c:idx val="0"/>
            <c:invertIfNegative val="0"/>
            <c:bubble3D val="0"/>
            <c:spPr>
              <a:solidFill>
                <a:srgbClr val="3494BA"/>
              </a:solidFill>
            </c:spPr>
            <c:extLst>
              <c:ext xmlns:c16="http://schemas.microsoft.com/office/drawing/2014/chart" uri="{C3380CC4-5D6E-409C-BE32-E72D297353CC}">
                <c16:uniqueId val="{00000001-78EA-4DD4-995B-A29A159CA6A7}"/>
              </c:ext>
            </c:extLst>
          </c:dPt>
          <c:dPt>
            <c:idx val="1"/>
            <c:invertIfNegative val="0"/>
            <c:bubble3D val="0"/>
            <c:spPr>
              <a:solidFill>
                <a:srgbClr val="75BDA7"/>
              </a:solidFill>
            </c:spPr>
            <c:extLst>
              <c:ext xmlns:c16="http://schemas.microsoft.com/office/drawing/2014/chart" uri="{C3380CC4-5D6E-409C-BE32-E72D297353CC}">
                <c16:uniqueId val="{00000003-78EA-4DD4-995B-A29A159CA6A7}"/>
              </c:ext>
            </c:extLst>
          </c:dPt>
          <c:dPt>
            <c:idx val="2"/>
            <c:invertIfNegative val="0"/>
            <c:bubble3D val="0"/>
            <c:spPr>
              <a:solidFill>
                <a:srgbClr val="2A9D8F"/>
              </a:solidFill>
            </c:spPr>
            <c:extLst>
              <c:ext xmlns:c16="http://schemas.microsoft.com/office/drawing/2014/chart" uri="{C3380CC4-5D6E-409C-BE32-E72D297353CC}">
                <c16:uniqueId val="{00000005-78EA-4DD4-995B-A29A159CA6A7}"/>
              </c:ext>
            </c:extLst>
          </c:dPt>
          <c:dLbls>
            <c:spPr>
              <a:noFill/>
              <a:ln>
                <a:noFill/>
              </a:ln>
              <a:effectLst/>
            </c:spPr>
            <c:txPr>
              <a:bodyPr anchorCtr="1"/>
              <a:lstStyle/>
              <a:p>
                <a:pPr>
                  <a:defRPr sz="1350" b="1">
                    <a:solidFill>
                      <a:srgbClr val="373545"/>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AIR</c:v>
              </c:pt>
              <c:pt idx="1">
                <c:v>TRK</c:v>
              </c:pt>
              <c:pt idx="2">
                <c:v>SEA</c:v>
              </c:pt>
            </c:strLit>
          </c:cat>
          <c:val>
            <c:numLit>
              <c:formatCode>General</c:formatCode>
              <c:ptCount val="3"/>
              <c:pt idx="0">
                <c:v>365</c:v>
              </c:pt>
              <c:pt idx="1">
                <c:v>797</c:v>
              </c:pt>
              <c:pt idx="2">
                <c:v>6955</c:v>
              </c:pt>
            </c:numLit>
          </c:val>
          <c:extLst>
            <c:ext xmlns:c16="http://schemas.microsoft.com/office/drawing/2014/chart" uri="{C3380CC4-5D6E-409C-BE32-E72D297353CC}">
              <c16:uniqueId val="{00000006-78EA-4DD4-995B-A29A159CA6A7}"/>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majorGridlines>
          <c:spPr>
            <a:ln w="9525">
              <a:solidFill>
                <a:srgbClr val="D9E2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scaling>
        <c:delete val="1"/>
        <c:axPos val="b"/>
        <c:numFmt formatCode="General" sourceLinked="1"/>
        <c:majorTickMark val="none"/>
        <c:minorTickMark val="none"/>
        <c:tickLblPos val="nextTo"/>
        <c:crossAx val="48650112"/>
        <c:crosses val="autoZero"/>
        <c:crossBetween val="between"/>
      </c:valAx>
      <c:spPr>
        <a:noFill/>
        <a:ln w="0">
          <a:noFill/>
          <a:prstDash val="solid"/>
        </a:ln>
      </c:spPr>
    </c:plotArea>
    <c:plotVisOnly val="1"/>
    <c:dispBlanksAs val="zero"/>
    <c:showDLblsOverMax val="1"/>
  </c:chart>
  <c:spPr>
    <a:noFill/>
    <a:ln w="0">
      <a:noFill/>
      <a:prstDash val="solid"/>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1"/>
        <c:ser>
          <c:idx val="0"/>
          <c:order val="0"/>
          <c:tx>
            <c:v>Monthly median final cost</c:v>
          </c:tx>
          <c:spPr>
            <a:ln w="28575">
              <a:solidFill>
                <a:srgbClr val="3494BA"/>
              </a:solidFill>
            </a:ln>
          </c:spPr>
          <c:marker>
            <c:symbol val="none"/>
          </c:marker>
          <c:dLbls>
            <c:spPr>
              <a:noFill/>
              <a:ln>
                <a:noFill/>
              </a:ln>
              <a:effectLst/>
            </c:spPr>
            <c:txPr>
              <a:bodyPr anchorCtr="1"/>
              <a:lstStyle/>
              <a:p>
                <a:pPr>
                  <a:defRPr sz="1050" b="1">
                    <a:solidFill>
                      <a:srgbClr val="373545"/>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Dec</c:v>
              </c:pt>
              <c:pt idx="1">
                <c:v>Jan</c:v>
              </c:pt>
              <c:pt idx="2">
                <c:v>Feb</c:v>
              </c:pt>
              <c:pt idx="3">
                <c:v>Mar</c:v>
              </c:pt>
              <c:pt idx="4">
                <c:v>Apr</c:v>
              </c:pt>
              <c:pt idx="5">
                <c:v>May</c:v>
              </c:pt>
              <c:pt idx="6">
                <c:v>Jun</c:v>
              </c:pt>
            </c:strLit>
          </c:cat>
          <c:val>
            <c:numLit>
              <c:formatCode>\$#,##0</c:formatCode>
              <c:ptCount val="7"/>
              <c:pt idx="0">
                <c:v>2448</c:v>
              </c:pt>
              <c:pt idx="1">
                <c:v>1020</c:v>
              </c:pt>
              <c:pt idx="2">
                <c:v>2281</c:v>
              </c:pt>
              <c:pt idx="3">
                <c:v>2009</c:v>
              </c:pt>
              <c:pt idx="4">
                <c:v>1549</c:v>
              </c:pt>
              <c:pt idx="5">
                <c:v>1239</c:v>
              </c:pt>
              <c:pt idx="6">
                <c:v>688</c:v>
              </c:pt>
            </c:numLit>
          </c:val>
          <c:smooth val="1"/>
          <c:extLst>
            <c:ext xmlns:c16="http://schemas.microsoft.com/office/drawing/2014/chart" uri="{C3380CC4-5D6E-409C-BE32-E72D297353CC}">
              <c16:uniqueId val="{00000000-D1CE-4B36-9A80-65D6605036D4}"/>
            </c:ext>
          </c:extLst>
        </c:ser>
        <c:dLbls>
          <c:showLegendKey val="0"/>
          <c:showVal val="1"/>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scaling>
        <c:delete val="0"/>
        <c:axPos val="l"/>
        <c:majorGridlines>
          <c:spPr>
            <a:ln w="9525">
              <a:solidFill>
                <a:srgbClr val="D9E2E7"/>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50112"/>
        <c:crosses val="autoZero"/>
        <c:crossBetween val="between"/>
      </c:valAx>
      <c:spPr>
        <a:noFill/>
        <a:ln w="0">
          <a:noFill/>
          <a:prstDash val="solid"/>
        </a:ln>
      </c:spPr>
    </c:plotArea>
    <c:plotVisOnly val="1"/>
    <c:dispBlanksAs val="zero"/>
    <c:showDLblsOverMax val="1"/>
  </c:chart>
  <c:spPr>
    <a:noFill/>
    <a:ln w="0">
      <a:noFill/>
      <a:prstDash val="solid"/>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doughnutChart>
        <c:varyColors val="1"/>
        <c:ser>
          <c:idx val="0"/>
          <c:order val="0"/>
          <c:tx>
            <c:v>Coverage</c:v>
          </c:tx>
          <c:dPt>
            <c:idx val="0"/>
            <c:bubble3D val="0"/>
            <c:spPr>
              <a:solidFill>
                <a:srgbClr val="2A9D8F"/>
              </a:solidFill>
            </c:spPr>
            <c:extLst>
              <c:ext xmlns:c16="http://schemas.microsoft.com/office/drawing/2014/chart" uri="{C3380CC4-5D6E-409C-BE32-E72D297353CC}">
                <c16:uniqueId val="{00000001-C77C-4735-8E7D-C71F1FD2BD98}"/>
              </c:ext>
            </c:extLst>
          </c:dPt>
          <c:dPt>
            <c:idx val="1"/>
            <c:bubble3D val="0"/>
            <c:spPr>
              <a:solidFill>
                <a:srgbClr val="DDE7EA"/>
              </a:solidFill>
            </c:spPr>
            <c:extLst>
              <c:ext xmlns:c16="http://schemas.microsoft.com/office/drawing/2014/chart" uri="{C3380CC4-5D6E-409C-BE32-E72D297353CC}">
                <c16:uniqueId val="{00000003-C77C-4735-8E7D-C71F1FD2BD98}"/>
              </c:ext>
            </c:extLst>
          </c:dPt>
          <c:cat>
            <c:strLit>
              <c:ptCount val="2"/>
              <c:pt idx="0">
                <c:v>Inside range</c:v>
              </c:pt>
              <c:pt idx="1">
                <c:v>Outside range</c:v>
              </c:pt>
            </c:strLit>
          </c:cat>
          <c:val>
            <c:numLit>
              <c:formatCode>General</c:formatCode>
              <c:ptCount val="2"/>
              <c:pt idx="0">
                <c:v>89.31</c:v>
              </c:pt>
              <c:pt idx="1">
                <c:v>10.69</c:v>
              </c:pt>
            </c:numLit>
          </c:val>
          <c:extLst>
            <c:ext xmlns:c16="http://schemas.microsoft.com/office/drawing/2014/chart" uri="{C3380CC4-5D6E-409C-BE32-E72D297353CC}">
              <c16:uniqueId val="{00000004-C77C-4735-8E7D-C71F1FD2BD98}"/>
            </c:ext>
          </c:extLst>
        </c:ser>
        <c:dLbls>
          <c:showLegendKey val="0"/>
          <c:showVal val="0"/>
          <c:showCatName val="0"/>
          <c:showSerName val="0"/>
          <c:showPercent val="0"/>
          <c:showBubbleSize val="0"/>
          <c:showLeaderLines val="0"/>
        </c:dLbls>
        <c:firstSliceAng val="270"/>
        <c:holeSize val="70"/>
      </c:doughnutChart>
      <c:spPr>
        <a:noFill/>
        <a:ln w="0">
          <a:noFill/>
          <a:prstDash val="solid"/>
        </a:ln>
      </c:spPr>
    </c:plotArea>
    <c:plotVisOnly val="1"/>
    <c:dispBlanksAs val="zero"/>
    <c:showDLblsOverMax val="1"/>
  </c:chart>
  <c:spPr>
    <a:noFill/>
    <a:ln w="0">
      <a:noFill/>
      <a:prstDash val="solid"/>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Error</c:v>
          </c:tx>
          <c:spPr>
            <a:solidFill>
              <a:srgbClr val="3494BA"/>
            </a:solidFill>
          </c:spPr>
          <c:invertIfNegative val="1"/>
          <c:dLbls>
            <c:spPr>
              <a:noFill/>
              <a:ln>
                <a:noFill/>
              </a:ln>
              <a:effectLst/>
            </c:spPr>
            <c:txPr>
              <a:bodyPr anchorCtr="1"/>
              <a:lstStyle/>
              <a:p>
                <a:pPr>
                  <a:defRPr sz="1200" b="1">
                    <a:solidFill>
                      <a:srgbClr val="373545"/>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Typical shipment
Median absolute error</c:v>
              </c:pt>
              <c:pt idx="1">
                <c:v>All shipments
Average absolute error</c:v>
              </c:pt>
              <c:pt idx="2">
                <c:v>Large misses emphasized
RMSE</c:v>
              </c:pt>
            </c:strLit>
          </c:cat>
          <c:val>
            <c:numLit>
              <c:formatCode>\$#,##0</c:formatCode>
              <c:ptCount val="3"/>
              <c:pt idx="0">
                <c:v>535</c:v>
              </c:pt>
              <c:pt idx="1">
                <c:v>3280</c:v>
              </c:pt>
              <c:pt idx="2">
                <c:v>11552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CB0-4A84-9189-8EA4119589D9}"/>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majorGridlines>
          <c:spPr>
            <a:ln w="9525">
              <a:solidFill>
                <a:srgbClr val="D9E2E7"/>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en-US"/>
          </a:p>
        </c:txPr>
        <c:crossAx val="48672768"/>
        <c:crosses val="autoZero"/>
        <c:auto val="1"/>
        <c:lblAlgn val="ctr"/>
        <c:lblOffset val="100"/>
        <c:noMultiLvlLbl val="1"/>
      </c:catAx>
      <c:valAx>
        <c:axId val="48672768"/>
        <c:scaling>
          <c:orientation val="minMax"/>
        </c:scaling>
        <c:delete val="1"/>
        <c:axPos val="b"/>
        <c:numFmt formatCode="\$#,##0" sourceLinked="1"/>
        <c:majorTickMark val="none"/>
        <c:minorTickMark val="none"/>
        <c:tickLblPos val="nextTo"/>
        <c:crossAx val="48650112"/>
        <c:crosses val="autoZero"/>
        <c:crossBetween val="between"/>
      </c:valAx>
      <c:spPr>
        <a:noFill/>
        <a:ln w="0">
          <a:noFill/>
          <a:prstDash val="solid"/>
        </a:ln>
      </c:spPr>
    </c:plotArea>
    <c:plotVisOnly val="1"/>
    <c:dispBlanksAs val="zero"/>
    <c:showDLblsOverMax val="1"/>
  </c:chart>
  <c:spPr>
    <a:noFill/>
    <a:ln w="0">
      <a:noFill/>
      <a:prstDash val="solid"/>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 with the audience and the decision problem. This is not a model presentation; it is a proposal to improve how brokers prepare customer quotes.</a:t>
            </a:r>
          </a:p>
          <a:p>
            <a:endParaRPr/>
          </a:p>
          <a:p>
            <a:r>
              <a:t>[Sources]</a:t>
            </a:r>
          </a:p>
          <a:p>
            <a:r>
              <a:t>- Internal project presentation and project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the decision. Ask leadership to approve a controlled pilot—not to approve an algorithm. Explain that the tool changes broker behavior by replacing a single manual guess with an estimate plus a reviewable range.</a:t>
            </a:r>
          </a:p>
          <a:p>
            <a:endParaRPr/>
          </a:p>
          <a:p>
            <a:r>
              <a:t>[Sources]</a:t>
            </a:r>
          </a:p>
          <a:p>
            <a:r>
              <a:t>- Internal project notebook: observed test coverage 89.31%; median absolute error $534.79.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Gallagher's operating context and the dataset. Sea and air represent about nine of every ten finalized records, but the broker still has to quote before the final cost is known.</a:t>
            </a:r>
          </a:p>
          <a:p>
            <a:endParaRPr/>
          </a:p>
          <a:p>
            <a:r>
              <a:t>[Sources]</a:t>
            </a:r>
          </a:p>
          <a:p>
            <a:r>
              <a:t>- Internal cleaned shipment dataset: 7,167 finalized records from 9,720 original records.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medians as executive-friendly typical costs. Explain that the comparison is descriptive and shows why a single reference amount cannot work across transportation types.</a:t>
            </a:r>
          </a:p>
          <a:p>
            <a:endParaRPr/>
          </a:p>
          <a:p>
            <a:r>
              <a:t>[Sources]</a:t>
            </a:r>
          </a:p>
          <a:p>
            <a:r>
              <a:t>- Internal cleaned shipment dataset: median final cost by transport 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historical typical cost moved across the seven-month period. Do not claim that the listed disruptions caused the chart; they illustrate why future cost remains uncertain at quote time.</a:t>
            </a:r>
          </a:p>
          <a:p>
            <a:endParaRPr/>
          </a:p>
          <a:p>
            <a:r>
              <a:t>[Sources]</a:t>
            </a:r>
          </a:p>
          <a:p>
            <a:r>
              <a:t>- Internal cleaned shipment dataset: monthly median final transportation cost.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Tell the case briefly: the initial quote was below the final cost, the customer did not accept the increase, and the company did not recover the difference. Do not state a dollar loss unless the original quote and final cost are documented.</a:t>
            </a:r>
          </a:p>
          <a:p>
            <a:endParaRPr/>
          </a:p>
          <a:p>
            <a:r>
              <a:t>[Sources]</a:t>
            </a:r>
          </a:p>
          <a:p>
            <a:r>
              <a:t>- Internal operational screenshot supplied by the project author; customer outcome described by the project author.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Transition into the live demo. Enter one realistic shipment, show the estimated cost and range, then return to the deck. Avoid explaining algorithms.</a:t>
            </a:r>
          </a:p>
          <a:p>
            <a:endParaRPr/>
          </a:p>
          <a:p>
            <a:r>
              <a:t>[Sources]</a:t>
            </a:r>
          </a:p>
          <a:p>
            <a:r>
              <a:t>- Internal Streamlit prototype and exported trained model bundle.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coverage without statistics jargon: about 89 of every 100 future test shipments landed inside the suggested range. The target was 90, so the result is close enough for a controlled pilot, not unrestricted deployment.</a:t>
            </a:r>
          </a:p>
          <a:p>
            <a:endParaRPr/>
          </a:p>
          <a:p>
            <a:r>
              <a:t>[Sources]</a:t>
            </a:r>
          </a:p>
          <a:p>
            <a:r>
              <a:t>- Internal project notebook: requested coverage 90%; observed test coverage 89.3123%; tolerance 2 percentage points.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this slide to introduce or conclude the live demonstration. Point out that the fields reflect information available when quoting. Enter one realistic shipment and show the estimated cost and range; do not explain the underlying algorithm.</a:t>
            </a:r>
          </a:p>
          <a:p>
            <a:endParaRPr/>
          </a:p>
          <a:p>
            <a:r>
              <a:t>[Sources]</a:t>
            </a:r>
          </a:p>
          <a:p>
            <a:r>
              <a:t>- Internal Shipment Cost Quote Assistant screenshot supplied by the project author.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by asking for a specific decision: pilot owner, participants and measurement discipline. Do not promise a financial return that has not yet been measured; make margin protection a pilot metric.</a:t>
            </a:r>
          </a:p>
          <a:p>
            <a:endParaRPr/>
          </a:p>
          <a:p>
            <a:r>
              <a:t>[Sources]</a:t>
            </a:r>
          </a:p>
          <a:p>
            <a:r>
              <a:t>- Internal project recommendation; no unmeasured financial benefit is claimed.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plain language: half of shipments are within about $535, but a small number of difficult shipments create much larger errors. This is the limitation slide the previous deck was missing.</a:t>
            </a:r>
          </a:p>
          <a:p>
            <a:endParaRPr/>
          </a:p>
          <a:p>
            <a:r>
              <a:t>[Sources]</a:t>
            </a:r>
          </a:p>
          <a:p>
            <a:r>
              <a:t>- Internal project notebook: median absolute error $534.79; MAE $3,279.55; RMSE $11,551.79.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operating policy. The tool handles routine cases; people handle exceptions. Emphasize that wide ranges are signals to investigate, not failures to hide.</a:t>
            </a:r>
          </a:p>
          <a:p>
            <a:endParaRPr/>
          </a:p>
          <a:p>
            <a:r>
              <a:t>[Sources]</a:t>
            </a:r>
          </a:p>
          <a:p>
            <a:r>
              <a:t>- Internal project recommendation based on model error and interval-width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only for methodology questions. Explain that final costs were filtered using business rules and that later months were reserved to simulate future performance.</a:t>
            </a:r>
          </a:p>
          <a:p>
            <a:endParaRPr/>
          </a:p>
          <a:p>
            <a:r>
              <a:t>[Sources]</a:t>
            </a:r>
          </a:p>
          <a:p>
            <a:r>
              <a:t>- Internal project notebook and source dataset audit.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C3CE526-87F0-4176-92CA-EFD3FC276D7A}"/>
              </a:ext>
            </a:extLst>
          </p:cNvPr>
          <p:cNvSpPr>
            <a:spLocks noGrp="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8" name="Rectangle 7">
            <a:extLst>
              <a:ext uri="{FF2B5EF4-FFF2-40B4-BE49-F238E27FC236}">
                <a16:creationId xmlns:a16="http://schemas.microsoft.com/office/drawing/2014/main" id="{0F8037D9-80DA-40BB-90F2-59C422E6F80B}"/>
              </a:ext>
            </a:extLst>
          </p:cNvPr>
          <p:cNvSpPr>
            <a:spLocks noGrp="1"/>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2" name="Title 1">
            <a:extLst>
              <a:ext uri="{FF2B5EF4-FFF2-40B4-BE49-F238E27FC236}">
                <a16:creationId xmlns:a16="http://schemas.microsoft.com/office/drawing/2014/main" id="{AE2AF9A2-956A-4291-9E6D-058B5F79B71D}"/>
              </a:ext>
            </a:extLst>
          </p:cNvPr>
          <p:cNvSpPr>
            <a:spLocks noGrp="1"/>
          </p:cNvSpPr>
          <p:nvPr>
            <p:ph type="ctrTitle"/>
          </p:nvPr>
        </p:nvSpPr>
        <p:spPr>
          <a:xfrm>
            <a:off x="1097280" y="758952"/>
            <a:ext cx="10058400" cy="3566160"/>
          </a:xfrm>
        </p:spPr>
        <p:txBody>
          <a:bodyPr anchor="b">
            <a:normAutofit/>
          </a:bodyPr>
          <a:lstStyle>
            <a:lvl1pPr algn="l">
              <a:lnSpc>
                <a:spcPct val="85000"/>
              </a:lnSpc>
              <a:buNone/>
              <a:defRPr sz="8000" spc="-50" baseline="0">
                <a:solidFill>
                  <a:schemeClr val="tx1">
                    <a:lumMod val="85000"/>
                    <a:lumOff val="15000"/>
                  </a:schemeClr>
                </a:solidFill>
              </a:defRPr>
            </a:lvl1pPr>
          </a:lstStyle>
          <a:p>
            <a:r>
              <a:t>Click to edit Master title style</a:t>
            </a:r>
          </a:p>
        </p:txBody>
      </p:sp>
      <p:sp>
        <p:nvSpPr>
          <p:cNvPr id="3" name="Subtitle 2">
            <a:extLst>
              <a:ext uri="{FF2B5EF4-FFF2-40B4-BE49-F238E27FC236}">
                <a16:creationId xmlns:a16="http://schemas.microsoft.com/office/drawing/2014/main" id="{9FD8CA27-3D5D-4916-A585-FD7066D2DD01}"/>
              </a:ext>
            </a:extLst>
          </p:cNvPr>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ea typeface="+mj-lt"/>
                <a:cs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t>Click to edit Master subtitle style</a:t>
            </a:r>
          </a:p>
        </p:txBody>
      </p:sp>
      <p:sp>
        <p:nvSpPr>
          <p:cNvPr id="4" name="Date Placeholder 3">
            <a:extLst>
              <a:ext uri="{FF2B5EF4-FFF2-40B4-BE49-F238E27FC236}">
                <a16:creationId xmlns:a16="http://schemas.microsoft.com/office/drawing/2014/main" id="{EA51C04F-C0F7-457C-B266-8D39B9E288D5}"/>
              </a:ext>
            </a:extLst>
          </p:cNvPr>
          <p:cNvSpPr>
            <a:spLocks noGrp="1"/>
          </p:cNvSpPr>
          <p:nvPr>
            <p:ph type="dt" idx="10"/>
          </p:nvPr>
        </p:nvSpPr>
        <p:spPr/>
        <p:txBody>
          <a:bodyPr/>
          <a:lstStyle/>
          <a:p>
            <a:fld id="{1C71DD98-2949-4E76-9A4A-B884F342E268}" type="datetimeFigureOut">
              <a:t>8/18/2026</a:t>
            </a:fld>
            <a:endParaRPr/>
          </a:p>
        </p:txBody>
      </p:sp>
      <p:sp>
        <p:nvSpPr>
          <p:cNvPr id="5" name="Footer Placeholder 4">
            <a:extLst>
              <a:ext uri="{FF2B5EF4-FFF2-40B4-BE49-F238E27FC236}">
                <a16:creationId xmlns:a16="http://schemas.microsoft.com/office/drawing/2014/main" id="{7A96FFD7-1C5F-4FD5-87E9-5A19541259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266C292-3A02-47D4-B168-4425C3E5011A}"/>
              </a:ext>
            </a:extLst>
          </p:cNvPr>
          <p:cNvSpPr>
            <a:spLocks noGrp="1"/>
          </p:cNvSpPr>
          <p:nvPr>
            <p:ph type="sldNum" idx="12"/>
          </p:nvPr>
        </p:nvSpPr>
        <p:spPr/>
        <p:txBody>
          <a:bodyPr/>
          <a:lstStyle/>
          <a:p>
            <a:fld id="{53FE51C4-F385-4370-8BCD-D995C5FFF64D}" type="slidenum">
              <a:t>‹#›</a:t>
            </a:fld>
            <a:endParaRPr/>
          </a:p>
        </p:txBody>
      </p:sp>
      <p:sp>
        <p:nvSpPr>
          <p:cNvPr id="9" name="Straight Connector 8">
            <a:extLst>
              <a:ext uri="{FF2B5EF4-FFF2-40B4-BE49-F238E27FC236}">
                <a16:creationId xmlns:a16="http://schemas.microsoft.com/office/drawing/2014/main" id="{6E31C81E-EA6A-495B-AE1D-93697651E556}"/>
              </a:ext>
            </a:extLst>
          </p:cNvPr>
          <p:cNvSpPr>
            <a:spLocks noGrp="1"/>
          </p:cNvSpPr>
          <p:nvPr/>
        </p:nv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CDA9-97E7-44E2-A1C5-5336EA5DFCD0}"/>
              </a:ext>
            </a:extLst>
          </p:cNvPr>
          <p:cNvSpPr>
            <a:spLocks noGrp="1"/>
          </p:cNvSpPr>
          <p:nvPr>
            <p:ph type="title"/>
          </p:nvPr>
        </p:nvSpPr>
        <p:spPr/>
        <p:txBody>
          <a:bodyPr/>
          <a:lstStyle>
            <a:lvl1pPr marL="0">
              <a:buNone/>
              <a:defRPr/>
            </a:lvl1pPr>
          </a:lstStyle>
          <a:p>
            <a:r>
              <a:t>Click to edit Master title style</a:t>
            </a:r>
          </a:p>
        </p:txBody>
      </p:sp>
      <p:sp>
        <p:nvSpPr>
          <p:cNvPr id="3" name="Content Placeholder 2">
            <a:extLst>
              <a:ext uri="{FF2B5EF4-FFF2-40B4-BE49-F238E27FC236}">
                <a16:creationId xmlns:a16="http://schemas.microsoft.com/office/drawing/2014/main" id="{C3555345-76D1-4F5C-A1B2-F9AAB9DBCF1A}"/>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73FC7D0-0345-4412-A73C-E09EB27FCB99}"/>
              </a:ext>
            </a:extLst>
          </p:cNvPr>
          <p:cNvSpPr>
            <a:spLocks noGrp="1"/>
          </p:cNvSpPr>
          <p:nvPr>
            <p:ph type="dt" idx="10"/>
          </p:nvPr>
        </p:nvSpPr>
        <p:spPr/>
        <p:txBody>
          <a:bodyPr/>
          <a:lstStyle/>
          <a:p>
            <a:fld id="{1C71DD98-2949-4E76-9A4A-B884F342E268}" type="datetimeFigureOut">
              <a:t>8/18/2026</a:t>
            </a:fld>
            <a:endParaRPr/>
          </a:p>
        </p:txBody>
      </p:sp>
      <p:sp>
        <p:nvSpPr>
          <p:cNvPr id="5" name="Footer Placeholder 4">
            <a:extLst>
              <a:ext uri="{FF2B5EF4-FFF2-40B4-BE49-F238E27FC236}">
                <a16:creationId xmlns:a16="http://schemas.microsoft.com/office/drawing/2014/main" id="{44780248-C1C5-43F0-9CCC-6DD58A03678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FE336F2-7843-459E-B3D8-85FF4AA93698}"/>
              </a:ext>
            </a:extLst>
          </p:cNvPr>
          <p:cNvSpPr>
            <a:spLocks noGrp="1"/>
          </p:cNvSpPr>
          <p:nvPr>
            <p:ph type="sldNum" idx="12"/>
          </p:nvPr>
        </p:nvSpPr>
        <p:spPr/>
        <p:txBody>
          <a:bodyPr/>
          <a:lstStyle/>
          <a:p>
            <a:fld id="{53FE51C4-F385-4370-8BCD-D995C5FFF64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CA635B-E2CE-4B21-9080-A64511830FD9}"/>
              </a:ext>
            </a:extLst>
          </p:cNvPr>
          <p:cNvSpPr>
            <a:spLocks noGrp="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54F3DA2C-C1D5-4878-B8B1-5FC9687D741C}"/>
              </a:ext>
            </a:extLst>
          </p:cNvPr>
          <p:cNvSpPr>
            <a:spLocks noGrp="1"/>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C52E1579-2B1B-4DC4-A7CC-5DD8DB19BA4C}"/>
              </a:ext>
            </a:extLst>
          </p:cNvPr>
          <p:cNvSpPr>
            <a:spLocks noGrp="1"/>
          </p:cNvSpPr>
          <p:nvPr>
            <p:ph type="title"/>
          </p:nvPr>
        </p:nvSpPr>
        <p:spPr>
          <a:xfrm>
            <a:off x="1097280" y="758952"/>
            <a:ext cx="10058400" cy="3566160"/>
          </a:xfrm>
        </p:spPr>
        <p:txBody>
          <a:bodyPr anchor="b">
            <a:normAutofit/>
          </a:bodyPr>
          <a:lstStyle>
            <a:lvl1pPr>
              <a:lnSpc>
                <a:spcPct val="85000"/>
              </a:lnSpc>
              <a:buNone/>
              <a:defRPr sz="8000" b="0">
                <a:solidFill>
                  <a:schemeClr val="tx1">
                    <a:lumMod val="85000"/>
                    <a:lumOff val="15000"/>
                  </a:schemeClr>
                </a:solidFill>
              </a:defRPr>
            </a:lvl1pPr>
          </a:lstStyle>
          <a:p>
            <a:r>
              <a:t>Click to edit Master title style</a:t>
            </a:r>
          </a:p>
        </p:txBody>
      </p:sp>
      <p:sp>
        <p:nvSpPr>
          <p:cNvPr id="3" name="Text Placeholder 2">
            <a:extLst>
              <a:ext uri="{FF2B5EF4-FFF2-40B4-BE49-F238E27FC236}">
                <a16:creationId xmlns:a16="http://schemas.microsoft.com/office/drawing/2014/main" id="{BFE4F957-8C97-4217-937A-836EC9170D6B}"/>
              </a:ext>
            </a:extLst>
          </p:cNvPr>
          <p:cNvSpPr>
            <a:spLocks noGrp="1"/>
          </p:cNvSpPr>
          <p:nvPr>
            <p:ph type="body" idx="1"/>
          </p:nvPr>
        </p:nvSpPr>
        <p:spPr>
          <a:xfrm>
            <a:off x="1097280" y="4453128"/>
            <a:ext cx="10058400" cy="1143000"/>
          </a:xfrm>
        </p:spPr>
        <p:txBody>
          <a:bodyPr lIns="91440" rIns="91440" anchor="t">
            <a:normAutofit/>
          </a:bodyPr>
          <a:lstStyle>
            <a:lvl1pPr marL="0" indent="0">
              <a:buNone/>
              <a:defRPr sz="2400" cap="all" spc="200" baseline="0">
                <a:solidFill>
                  <a:schemeClr val="tx2"/>
                </a:solidFill>
                <a:latin typeface="+mj-lt"/>
                <a:ea typeface="+mj-lt"/>
                <a:cs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BE0FC64F-89F1-426D-AF48-F06CEA6DF896}"/>
              </a:ext>
            </a:extLst>
          </p:cNvPr>
          <p:cNvSpPr>
            <a:spLocks noGrp="1"/>
          </p:cNvSpPr>
          <p:nvPr>
            <p:ph type="dt" idx="10"/>
          </p:nvPr>
        </p:nvSpPr>
        <p:spPr/>
        <p:txBody>
          <a:bodyPr/>
          <a:lstStyle/>
          <a:p>
            <a:fld id="{1C71DD98-2949-4E76-9A4A-B884F342E268}" type="datetimeFigureOut">
              <a:t>8/18/2026</a:t>
            </a:fld>
            <a:endParaRPr/>
          </a:p>
        </p:txBody>
      </p:sp>
      <p:sp>
        <p:nvSpPr>
          <p:cNvPr id="5" name="Footer Placeholder 4">
            <a:extLst>
              <a:ext uri="{FF2B5EF4-FFF2-40B4-BE49-F238E27FC236}">
                <a16:creationId xmlns:a16="http://schemas.microsoft.com/office/drawing/2014/main" id="{BBED7DE2-71B1-4B90-9407-DA11E9E1AA1F}"/>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07D9027-A2A4-4B10-A7AB-DEF5A91F8606}"/>
              </a:ext>
            </a:extLst>
          </p:cNvPr>
          <p:cNvSpPr>
            <a:spLocks noGrp="1"/>
          </p:cNvSpPr>
          <p:nvPr>
            <p:ph type="sldNum" idx="12"/>
          </p:nvPr>
        </p:nvSpPr>
        <p:spPr/>
        <p:txBody>
          <a:bodyPr/>
          <a:lstStyle/>
          <a:p>
            <a:fld id="{53FE51C4-F385-4370-8BCD-D995C5FFF64D}" type="slidenum">
              <a:t>‹#›</a:t>
            </a:fld>
            <a:endParaRPr/>
          </a:p>
        </p:txBody>
      </p:sp>
      <p:sp>
        <p:nvSpPr>
          <p:cNvPr id="9" name="Straight Connector 8">
            <a:extLst>
              <a:ext uri="{FF2B5EF4-FFF2-40B4-BE49-F238E27FC236}">
                <a16:creationId xmlns:a16="http://schemas.microsoft.com/office/drawing/2014/main" id="{7D36D1AF-5079-4DBB-BE2F-5586072DF881}"/>
              </a:ext>
            </a:extLst>
          </p:cNvPr>
          <p:cNvSpPr>
            <a:spLocks noGrp="1"/>
          </p:cNvSpPr>
          <p:nvPr/>
        </p:nv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9D523-D42B-4F3D-B6E2-EC154EA28F92}"/>
              </a:ext>
            </a:extLst>
          </p:cNvPr>
          <p:cNvSpPr>
            <a:spLocks noGrp="1"/>
          </p:cNvSpPr>
          <p:nvPr>
            <p:ph type="title"/>
          </p:nvPr>
        </p:nvSpPr>
        <p:spPr>
          <a:xfrm>
            <a:off x="1097280" y="286603"/>
            <a:ext cx="10058400" cy="1450757"/>
          </a:xfrm>
        </p:spPr>
        <p:txBody>
          <a:bodyPr/>
          <a:lstStyle/>
          <a:p>
            <a:r>
              <a:t>Click to edit Master title style</a:t>
            </a:r>
          </a:p>
        </p:txBody>
      </p:sp>
      <p:sp>
        <p:nvSpPr>
          <p:cNvPr id="3" name="Content Placeholder 2">
            <a:extLst>
              <a:ext uri="{FF2B5EF4-FFF2-40B4-BE49-F238E27FC236}">
                <a16:creationId xmlns:a16="http://schemas.microsoft.com/office/drawing/2014/main" id="{C3F6D427-0D53-4595-AA5F-7CAC02E74DB8}"/>
              </a:ext>
            </a:extLst>
          </p:cNvPr>
          <p:cNvSpPr>
            <a:spLocks noGrp="1"/>
          </p:cNvSpPr>
          <p:nvPr>
            <p:ph idx="1"/>
          </p:nvPr>
        </p:nvSpPr>
        <p:spPr>
          <a:xfrm>
            <a:off x="1097279" y="1845734"/>
            <a:ext cx="4937760" cy="402336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51862C34-04B6-4633-88A6-2FBD5F857217}"/>
              </a:ext>
            </a:extLst>
          </p:cNvPr>
          <p:cNvSpPr>
            <a:spLocks noGrp="1"/>
          </p:cNvSpPr>
          <p:nvPr>
            <p:ph idx="2"/>
          </p:nvPr>
        </p:nvSpPr>
        <p:spPr>
          <a:xfrm>
            <a:off x="6217920" y="1845735"/>
            <a:ext cx="4937760" cy="402336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3B28DD55-A7CD-449F-AE04-70E46F104BCE}"/>
              </a:ext>
            </a:extLst>
          </p:cNvPr>
          <p:cNvSpPr>
            <a:spLocks noGrp="1"/>
          </p:cNvSpPr>
          <p:nvPr>
            <p:ph type="dt" idx="10"/>
          </p:nvPr>
        </p:nvSpPr>
        <p:spPr/>
        <p:txBody>
          <a:bodyPr/>
          <a:lstStyle/>
          <a:p>
            <a:fld id="{1C71DD98-2949-4E76-9A4A-B884F342E268}" type="datetimeFigureOut">
              <a:t>8/18/2026</a:t>
            </a:fld>
            <a:endParaRPr/>
          </a:p>
        </p:txBody>
      </p:sp>
      <p:sp>
        <p:nvSpPr>
          <p:cNvPr id="6" name="Footer Placeholder 5">
            <a:extLst>
              <a:ext uri="{FF2B5EF4-FFF2-40B4-BE49-F238E27FC236}">
                <a16:creationId xmlns:a16="http://schemas.microsoft.com/office/drawing/2014/main" id="{CE79D4C3-0AF7-4A91-A0A6-F62D93CEE76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F53FD6AB-AA3F-419F-86A7-3935E2C697F2}"/>
              </a:ext>
            </a:extLst>
          </p:cNvPr>
          <p:cNvSpPr>
            <a:spLocks noGrp="1"/>
          </p:cNvSpPr>
          <p:nvPr>
            <p:ph type="sldNum" idx="12"/>
          </p:nvPr>
        </p:nvSpPr>
        <p:spPr/>
        <p:txBody>
          <a:bodyPr/>
          <a:lstStyle/>
          <a:p>
            <a:fld id="{53FE51C4-F385-4370-8BCD-D995C5FFF64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948E042-5B65-43FA-82D7-201AF6CBE993}"/>
              </a:ext>
            </a:extLst>
          </p:cNvPr>
          <p:cNvSpPr>
            <a:spLocks noGrp="1"/>
          </p:cNvSpPr>
          <p:nvPr>
            <p:ph type="title"/>
          </p:nvPr>
        </p:nvSpPr>
        <p:spPr>
          <a:xfrm>
            <a:off x="1097280" y="286603"/>
            <a:ext cx="10058400" cy="1450757"/>
          </a:xfrm>
        </p:spPr>
        <p:txBody>
          <a:bodyPr/>
          <a:lstStyle/>
          <a:p>
            <a:r>
              <a:t>Click to edit Master title style</a:t>
            </a:r>
          </a:p>
        </p:txBody>
      </p:sp>
      <p:sp>
        <p:nvSpPr>
          <p:cNvPr id="3" name="Text Placeholder 2">
            <a:extLst>
              <a:ext uri="{FF2B5EF4-FFF2-40B4-BE49-F238E27FC236}">
                <a16:creationId xmlns:a16="http://schemas.microsoft.com/office/drawing/2014/main" id="{0AF2F3F5-3EC4-4EE4-B0A6-84BDD636119D}"/>
              </a:ext>
            </a:extLst>
          </p:cNvPr>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DF72569D-C88F-4EA6-9949-2C45D90D91A6}"/>
              </a:ext>
            </a:extLst>
          </p:cNvPr>
          <p:cNvSpPr>
            <a:spLocks noGrp="1"/>
          </p:cNvSpPr>
          <p:nvPr>
            <p:ph idx="2"/>
          </p:nvPr>
        </p:nvSpPr>
        <p:spPr>
          <a:xfrm>
            <a:off x="1097280" y="2582334"/>
            <a:ext cx="4937760" cy="337820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2CD26122-85EC-4618-A09F-97FBD8672710}"/>
              </a:ext>
            </a:extLst>
          </p:cNvPr>
          <p:cNvSpPr>
            <a:spLocks noGrp="1"/>
          </p:cNvSpPr>
          <p:nvPr>
            <p:ph type="body"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B0D3861-5A9B-44CF-AFD3-AADD288C912A}"/>
              </a:ext>
            </a:extLst>
          </p:cNvPr>
          <p:cNvSpPr>
            <a:spLocks noGrp="1"/>
          </p:cNvSpPr>
          <p:nvPr>
            <p:ph idx="4"/>
          </p:nvPr>
        </p:nvSpPr>
        <p:spPr>
          <a:xfrm>
            <a:off x="6217920" y="2582334"/>
            <a:ext cx="4937760" cy="337820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C65B6A0-FF82-4156-9295-6820DB8DBBD4}"/>
              </a:ext>
            </a:extLst>
          </p:cNvPr>
          <p:cNvSpPr>
            <a:spLocks noGrp="1"/>
          </p:cNvSpPr>
          <p:nvPr>
            <p:ph type="dt" idx="10"/>
          </p:nvPr>
        </p:nvSpPr>
        <p:spPr/>
        <p:txBody>
          <a:bodyPr/>
          <a:lstStyle/>
          <a:p>
            <a:fld id="{1C71DD98-2949-4E76-9A4A-B884F342E268}" type="datetimeFigureOut">
              <a:t>8/18/2026</a:t>
            </a:fld>
            <a:endParaRPr/>
          </a:p>
        </p:txBody>
      </p:sp>
      <p:sp>
        <p:nvSpPr>
          <p:cNvPr id="8" name="Footer Placeholder 7">
            <a:extLst>
              <a:ext uri="{FF2B5EF4-FFF2-40B4-BE49-F238E27FC236}">
                <a16:creationId xmlns:a16="http://schemas.microsoft.com/office/drawing/2014/main" id="{663A422E-DC5A-470F-B2F2-601C362C3366}"/>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F41A217B-B1F6-4EA8-ADF6-BA39CFDDD12D}"/>
              </a:ext>
            </a:extLst>
          </p:cNvPr>
          <p:cNvSpPr>
            <a:spLocks noGrp="1"/>
          </p:cNvSpPr>
          <p:nvPr>
            <p:ph type="sldNum" idx="12"/>
          </p:nvPr>
        </p:nvSpPr>
        <p:spPr/>
        <p:txBody>
          <a:bodyPr/>
          <a:lstStyle/>
          <a:p>
            <a:fld id="{53FE51C4-F385-4370-8BCD-D995C5FFF64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0ABF3-2D6B-4C3E-9CFC-74879978578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D4CD0241-51DC-48BF-94EA-1A9E83551E77}"/>
              </a:ext>
            </a:extLst>
          </p:cNvPr>
          <p:cNvSpPr>
            <a:spLocks noGrp="1"/>
          </p:cNvSpPr>
          <p:nvPr>
            <p:ph type="dt" idx="10"/>
          </p:nvPr>
        </p:nvSpPr>
        <p:spPr/>
        <p:txBody>
          <a:bodyPr/>
          <a:lstStyle/>
          <a:p>
            <a:fld id="{1C71DD98-2949-4E76-9A4A-B884F342E268}" type="datetimeFigureOut">
              <a:t>8/18/2026</a:t>
            </a:fld>
            <a:endParaRPr/>
          </a:p>
        </p:txBody>
      </p:sp>
      <p:sp>
        <p:nvSpPr>
          <p:cNvPr id="4" name="Footer Placeholder 3">
            <a:extLst>
              <a:ext uri="{FF2B5EF4-FFF2-40B4-BE49-F238E27FC236}">
                <a16:creationId xmlns:a16="http://schemas.microsoft.com/office/drawing/2014/main" id="{F3898222-485E-45CD-A4AC-AF7A9063853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38600BC-BDFF-42D9-BEEE-BA4B520E196D}"/>
              </a:ext>
            </a:extLst>
          </p:cNvPr>
          <p:cNvSpPr>
            <a:spLocks noGrp="1"/>
          </p:cNvSpPr>
          <p:nvPr>
            <p:ph type="sldNum" idx="12"/>
          </p:nvPr>
        </p:nvSpPr>
        <p:spPr/>
        <p:txBody>
          <a:bodyPr/>
          <a:lstStyle/>
          <a:p>
            <a:fld id="{53FE51C4-F385-4370-8BCD-D995C5FFF64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282D588-4D9F-4B84-9447-684FFFF85701}"/>
              </a:ext>
            </a:extLst>
          </p:cNvPr>
          <p:cNvSpPr>
            <a:spLocks noGrp="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a:extLst>
              <a:ext uri="{FF2B5EF4-FFF2-40B4-BE49-F238E27FC236}">
                <a16:creationId xmlns:a16="http://schemas.microsoft.com/office/drawing/2014/main" id="{90D1A4DA-FFE9-4308-BD8B-C66D406E00F5}"/>
              </a:ext>
            </a:extLst>
          </p:cNvPr>
          <p:cNvSpPr>
            <a:spLocks noGrp="1"/>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a:extLst>
              <a:ext uri="{FF2B5EF4-FFF2-40B4-BE49-F238E27FC236}">
                <a16:creationId xmlns:a16="http://schemas.microsoft.com/office/drawing/2014/main" id="{DA0E763E-1C52-486A-BC79-E27F25492A10}"/>
              </a:ext>
            </a:extLst>
          </p:cNvPr>
          <p:cNvSpPr>
            <a:spLocks noGrp="1"/>
          </p:cNvSpPr>
          <p:nvPr>
            <p:ph type="dt" idx="10"/>
          </p:nvPr>
        </p:nvSpPr>
        <p:spPr/>
        <p:txBody>
          <a:bodyPr/>
          <a:lstStyle/>
          <a:p>
            <a:fld id="{1C71DD98-2949-4E76-9A4A-B884F342E268}" type="datetimeFigureOut">
              <a:t>8/18/2026</a:t>
            </a:fld>
            <a:endParaRPr/>
          </a:p>
        </p:txBody>
      </p:sp>
      <p:sp>
        <p:nvSpPr>
          <p:cNvPr id="8" name="Footer Placeholder 7">
            <a:extLst>
              <a:ext uri="{FF2B5EF4-FFF2-40B4-BE49-F238E27FC236}">
                <a16:creationId xmlns:a16="http://schemas.microsoft.com/office/drawing/2014/main" id="{2F4275C5-05CA-4679-9256-4310ED43C769}"/>
              </a:ext>
            </a:extLst>
          </p:cNvPr>
          <p:cNvSpPr>
            <a:spLocks noGrp="1"/>
          </p:cNvSpPr>
          <p:nvPr>
            <p:ph type="ftr" idx="11"/>
          </p:nvPr>
        </p:nvSpPr>
        <p:spPr/>
        <p:txBody>
          <a:bodyPr/>
          <a:lstStyle>
            <a:lvl1pPr>
              <a:buNone/>
              <a:defRPr>
                <a:solidFill>
                  <a:srgbClr val="FFFFFF"/>
                </a:solidFill>
              </a:defRPr>
            </a:lvl1pPr>
          </a:lstStyle>
          <a:p>
            <a:endParaRPr/>
          </a:p>
        </p:txBody>
      </p:sp>
      <p:sp>
        <p:nvSpPr>
          <p:cNvPr id="9" name="Slide Number Placeholder 8">
            <a:extLst>
              <a:ext uri="{FF2B5EF4-FFF2-40B4-BE49-F238E27FC236}">
                <a16:creationId xmlns:a16="http://schemas.microsoft.com/office/drawing/2014/main" id="{953F1D3E-283C-4F62-8872-CD3B54EF29E3}"/>
              </a:ext>
            </a:extLst>
          </p:cNvPr>
          <p:cNvSpPr>
            <a:spLocks noGrp="1"/>
          </p:cNvSpPr>
          <p:nvPr>
            <p:ph type="sldNum" idx="12"/>
          </p:nvPr>
        </p:nvSpPr>
        <p:spPr/>
        <p:txBody>
          <a:bodyPr/>
          <a:lstStyle/>
          <a:p>
            <a:fld id="{53FE51C4-F385-4370-8BCD-D995C5FFF64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D25B9E3-9036-45D1-83E2-D74AFF47223F}"/>
              </a:ext>
            </a:extLst>
          </p:cNvPr>
          <p:cNvSpPr>
            <a:spLocks noGrp="1"/>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B6BB4A9D-AF55-47BE-ACA1-3A1D061E4DCB}"/>
              </a:ext>
            </a:extLst>
          </p:cNvPr>
          <p:cNvSpPr>
            <a:spLocks noGrp="1"/>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1B8751A-3734-46A8-97F8-6A069D5707D0}"/>
              </a:ext>
            </a:extLst>
          </p:cNvPr>
          <p:cNvSpPr>
            <a:spLocks noGrp="1"/>
          </p:cNvSpPr>
          <p:nvPr>
            <p:ph type="title"/>
          </p:nvPr>
        </p:nvSpPr>
        <p:spPr>
          <a:xfrm>
            <a:off x="457200" y="594359"/>
            <a:ext cx="3200400" cy="2286000"/>
          </a:xfrm>
        </p:spPr>
        <p:txBody>
          <a:bodyPr anchor="b">
            <a:normAutofit/>
          </a:bodyPr>
          <a:lstStyle>
            <a:lvl1pPr>
              <a:buNone/>
              <a:defRPr sz="3600" b="0">
                <a:solidFill>
                  <a:srgbClr val="FFFFFF"/>
                </a:solidFill>
              </a:defRPr>
            </a:lvl1pPr>
          </a:lstStyle>
          <a:p>
            <a:r>
              <a:t>Click to edit Master title style</a:t>
            </a:r>
          </a:p>
        </p:txBody>
      </p:sp>
      <p:sp>
        <p:nvSpPr>
          <p:cNvPr id="3" name="Content Placeholder 2">
            <a:extLst>
              <a:ext uri="{FF2B5EF4-FFF2-40B4-BE49-F238E27FC236}">
                <a16:creationId xmlns:a16="http://schemas.microsoft.com/office/drawing/2014/main" id="{AE13B1FA-1E24-40D4-82E9-DDD9A491F277}"/>
              </a:ext>
            </a:extLst>
          </p:cNvPr>
          <p:cNvSpPr>
            <a:spLocks noGrp="1"/>
          </p:cNvSpPr>
          <p:nvPr>
            <p:ph idx="1"/>
          </p:nvPr>
        </p:nvSpPr>
        <p:spPr>
          <a:xfrm>
            <a:off x="4800600" y="731520"/>
            <a:ext cx="6492240" cy="5257800"/>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A6CAF649-0EB5-4BB3-8D77-55E0447BE1F1}"/>
              </a:ext>
            </a:extLst>
          </p:cNvPr>
          <p:cNvSpPr>
            <a:spLocks noGrp="1"/>
          </p:cNvSpPr>
          <p:nvPr>
            <p:ph type="body"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26CA44E5-290D-4C0A-8740-7E842A07FC4B}"/>
              </a:ext>
            </a:extLst>
          </p:cNvPr>
          <p:cNvSpPr>
            <a:spLocks noGrp="1"/>
          </p:cNvSpPr>
          <p:nvPr>
            <p:ph type="dt" idx="10"/>
          </p:nvPr>
        </p:nvSpPr>
        <p:spPr>
          <a:xfrm>
            <a:off x="465512" y="6459785"/>
            <a:ext cx="2618510" cy="365125"/>
          </a:xfrm>
        </p:spPr>
        <p:txBody>
          <a:bodyPr/>
          <a:lstStyle>
            <a:lvl1pPr algn="l">
              <a:buNone/>
              <a:defRPr/>
            </a:lvl1pPr>
          </a:lstStyle>
          <a:p>
            <a:fld id="{1C71DD98-2949-4E76-9A4A-B884F342E268}" type="datetimeFigureOut">
              <a:t>8/18/2026</a:t>
            </a:fld>
            <a:endParaRPr/>
          </a:p>
        </p:txBody>
      </p:sp>
      <p:sp>
        <p:nvSpPr>
          <p:cNvPr id="6" name="Footer Placeholder 5">
            <a:extLst>
              <a:ext uri="{FF2B5EF4-FFF2-40B4-BE49-F238E27FC236}">
                <a16:creationId xmlns:a16="http://schemas.microsoft.com/office/drawing/2014/main" id="{86E39F91-D391-405B-8BE6-B0F2D19F3884}"/>
              </a:ext>
            </a:extLst>
          </p:cNvPr>
          <p:cNvSpPr>
            <a:spLocks noGrp="1"/>
          </p:cNvSpPr>
          <p:nvPr>
            <p:ph type="ftr" idx="11"/>
          </p:nvPr>
        </p:nvSpPr>
        <p:spPr>
          <a:xfrm>
            <a:off x="4800600" y="6459785"/>
            <a:ext cx="4648200" cy="365125"/>
          </a:xfrm>
        </p:spPr>
        <p:txBody>
          <a:bodyPr/>
          <a:lstStyle>
            <a:lvl1pPr algn="l">
              <a:buNone/>
              <a:defRPr>
                <a:solidFill>
                  <a:schemeClr val="tx2"/>
                </a:solidFill>
              </a:defRPr>
            </a:lvl1pPr>
          </a:lstStyle>
          <a:p>
            <a:endParaRPr/>
          </a:p>
        </p:txBody>
      </p:sp>
      <p:sp>
        <p:nvSpPr>
          <p:cNvPr id="7" name="Slide Number Placeholder 6">
            <a:extLst>
              <a:ext uri="{FF2B5EF4-FFF2-40B4-BE49-F238E27FC236}">
                <a16:creationId xmlns:a16="http://schemas.microsoft.com/office/drawing/2014/main" id="{A0D2E422-4CAE-474A-A83B-6598EFE55E6F}"/>
              </a:ext>
            </a:extLst>
          </p:cNvPr>
          <p:cNvSpPr>
            <a:spLocks noGrp="1"/>
          </p:cNvSpPr>
          <p:nvPr>
            <p:ph type="sldNum" idx="12"/>
          </p:nvPr>
        </p:nvSpPr>
        <p:spPr/>
        <p:txBody>
          <a:bodyPr/>
          <a:lstStyle>
            <a:lvl1pPr>
              <a:buNone/>
              <a:defRPr>
                <a:solidFill>
                  <a:schemeClr val="tx2"/>
                </a:solidFill>
              </a:defRPr>
            </a:lvl1pPr>
          </a:lstStyle>
          <a:p>
            <a:fld id="{53FE51C4-F385-4370-8BCD-D995C5FFF64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529662D-C578-46B8-995D-4AAF9BD56322}"/>
              </a:ext>
            </a:extLst>
          </p:cNvPr>
          <p:cNvSpPr>
            <a:spLocks noGrp="1"/>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a:extLst>
              <a:ext uri="{FF2B5EF4-FFF2-40B4-BE49-F238E27FC236}">
                <a16:creationId xmlns:a16="http://schemas.microsoft.com/office/drawing/2014/main" id="{B6A7EF79-0313-4936-9E3D-3C782E6248AC}"/>
              </a:ext>
            </a:extLst>
          </p:cNvPr>
          <p:cNvSpPr>
            <a:spLocks noGrp="1"/>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C1A20A9-E915-4592-948F-4B9962830600}"/>
              </a:ext>
            </a:extLst>
          </p:cNvPr>
          <p:cNvSpPr>
            <a:spLocks noGrp="1"/>
          </p:cNvSpPr>
          <p:nvPr>
            <p:ph type="title"/>
          </p:nvPr>
        </p:nvSpPr>
        <p:spPr>
          <a:xfrm>
            <a:off x="1097280" y="5074920"/>
            <a:ext cx="10113264" cy="822960"/>
          </a:xfrm>
        </p:spPr>
        <p:txBody>
          <a:bodyPr lIns="91440" tIns="0" rIns="91440" bIns="0" anchor="b">
            <a:noAutofit/>
          </a:bodyPr>
          <a:lstStyle>
            <a:lvl1pPr>
              <a:buNone/>
              <a:defRPr sz="3600" b="0">
                <a:solidFill>
                  <a:srgbClr val="FFFFFF"/>
                </a:solidFill>
              </a:defRPr>
            </a:lvl1pPr>
          </a:lstStyle>
          <a:p>
            <a:r>
              <a:t>Click to edit Master title style</a:t>
            </a:r>
          </a:p>
        </p:txBody>
      </p:sp>
      <p:sp>
        <p:nvSpPr>
          <p:cNvPr id="3" name="Picture Placeholder 2">
            <a:extLst>
              <a:ext uri="{FF2B5EF4-FFF2-40B4-BE49-F238E27FC236}">
                <a16:creationId xmlns:a16="http://schemas.microsoft.com/office/drawing/2014/main" id="{2F02EB05-D320-4992-B295-F2553D5C7773}"/>
              </a:ext>
            </a:extLst>
          </p:cNvPr>
          <p:cNvSpPr>
            <a:spLocks noGrp="1"/>
          </p:cNvSpPr>
          <p:nvPr>
            <p:ph type="pic" idx="1"/>
          </p:nvPr>
        </p:nvSpPr>
        <p:spPr>
          <a:xfrm>
            <a:off x="15" y="0"/>
            <a:ext cx="12191985" cy="4915076"/>
          </a:xfrm>
          <a:prstGeom prst="rect">
            <a:avLst/>
          </a:prstGeo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Click icon to add picture</a:t>
            </a:r>
          </a:p>
        </p:txBody>
      </p:sp>
      <p:sp>
        <p:nvSpPr>
          <p:cNvPr id="4" name="Text Placeholder 3">
            <a:extLst>
              <a:ext uri="{FF2B5EF4-FFF2-40B4-BE49-F238E27FC236}">
                <a16:creationId xmlns:a16="http://schemas.microsoft.com/office/drawing/2014/main" id="{4F94A84D-6B6E-4025-B211-9EDB88F73C6A}"/>
              </a:ext>
            </a:extLst>
          </p:cNvPr>
          <p:cNvSpPr>
            <a:spLocks noGrp="1"/>
          </p:cNvSpPr>
          <p:nvPr>
            <p:ph type="body"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8ABEB299-5C62-4F55-9486-CC8AC5C0D4B6}"/>
              </a:ext>
            </a:extLst>
          </p:cNvPr>
          <p:cNvSpPr>
            <a:spLocks noGrp="1"/>
          </p:cNvSpPr>
          <p:nvPr>
            <p:ph type="dt" idx="10"/>
          </p:nvPr>
        </p:nvSpPr>
        <p:spPr/>
        <p:txBody>
          <a:bodyPr/>
          <a:lstStyle/>
          <a:p>
            <a:fld id="{1C71DD98-2949-4E76-9A4A-B884F342E268}" type="datetimeFigureOut">
              <a:t>8/18/2026</a:t>
            </a:fld>
            <a:endParaRPr/>
          </a:p>
        </p:txBody>
      </p:sp>
      <p:sp>
        <p:nvSpPr>
          <p:cNvPr id="6" name="Footer Placeholder 5">
            <a:extLst>
              <a:ext uri="{FF2B5EF4-FFF2-40B4-BE49-F238E27FC236}">
                <a16:creationId xmlns:a16="http://schemas.microsoft.com/office/drawing/2014/main" id="{9F7B5848-871E-438B-947A-CE5FAB5886E4}"/>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352D288-937A-4F64-A54E-BB1592C72C54}"/>
              </a:ext>
            </a:extLst>
          </p:cNvPr>
          <p:cNvSpPr>
            <a:spLocks noGrp="1"/>
          </p:cNvSpPr>
          <p:nvPr>
            <p:ph type="sldNum" idx="12"/>
          </p:nvPr>
        </p:nvSpPr>
        <p:spPr/>
        <p:txBody>
          <a:bodyPr/>
          <a:lstStyle/>
          <a:p>
            <a:fld id="{53FE51C4-F385-4370-8BCD-D995C5FFF64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E2C16-ADA9-4EA9-BE4C-F5E5604CBC69}"/>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55F23A69-7B3C-46F5-8DE3-1D8362FB6ED1}"/>
              </a:ext>
            </a:extLst>
          </p:cNvPr>
          <p:cNvSpPr>
            <a:spLocks noGrp="1"/>
          </p:cNvSpPr>
          <p:nvPr>
            <p:ph type="body" idx="1"/>
          </p:nvPr>
        </p:nvSpPr>
        <p:spPr/>
        <p:txBody>
          <a:bodyPr vert="eaVert" lIns="45720" tIns="0" rIns="45720" bIns="0"/>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4394CBD-21A7-433A-B162-90B45613BF4B}"/>
              </a:ext>
            </a:extLst>
          </p:cNvPr>
          <p:cNvSpPr>
            <a:spLocks noGrp="1"/>
          </p:cNvSpPr>
          <p:nvPr>
            <p:ph type="dt" idx="10"/>
          </p:nvPr>
        </p:nvSpPr>
        <p:spPr/>
        <p:txBody>
          <a:bodyPr/>
          <a:lstStyle/>
          <a:p>
            <a:fld id="{1C71DD98-2949-4E76-9A4A-B884F342E268}" type="datetimeFigureOut">
              <a:t>8/18/2026</a:t>
            </a:fld>
            <a:endParaRPr/>
          </a:p>
        </p:txBody>
      </p:sp>
      <p:sp>
        <p:nvSpPr>
          <p:cNvPr id="5" name="Footer Placeholder 4">
            <a:extLst>
              <a:ext uri="{FF2B5EF4-FFF2-40B4-BE49-F238E27FC236}">
                <a16:creationId xmlns:a16="http://schemas.microsoft.com/office/drawing/2014/main" id="{0076A207-CB47-49E5-A57E-0C02AD784CB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6E983BF-D14C-4716-84C1-9E44A56D3BFC}"/>
              </a:ext>
            </a:extLst>
          </p:cNvPr>
          <p:cNvSpPr>
            <a:spLocks noGrp="1"/>
          </p:cNvSpPr>
          <p:nvPr>
            <p:ph type="sldNum" idx="12"/>
          </p:nvPr>
        </p:nvSpPr>
        <p:spPr/>
        <p:txBody>
          <a:bodyPr/>
          <a:lstStyle/>
          <a:p>
            <a:fld id="{53FE51C4-F385-4370-8BCD-D995C5FFF64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502714A-2E4A-4182-BB4D-1FCBE04DBB81}"/>
              </a:ext>
            </a:extLst>
          </p:cNvPr>
          <p:cNvSpPr>
            <a:spLocks noGrp="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a:extLst>
              <a:ext uri="{FF2B5EF4-FFF2-40B4-BE49-F238E27FC236}">
                <a16:creationId xmlns:a16="http://schemas.microsoft.com/office/drawing/2014/main" id="{AFD885D8-DBE3-4A67-9251-DF442BC9F69C}"/>
              </a:ext>
            </a:extLst>
          </p:cNvPr>
          <p:cNvSpPr>
            <a:spLocks noGrp="1"/>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a:extLst>
              <a:ext uri="{FF2B5EF4-FFF2-40B4-BE49-F238E27FC236}">
                <a16:creationId xmlns:a16="http://schemas.microsoft.com/office/drawing/2014/main" id="{311F4F7C-39A1-4675-AA24-0364D5C9F75E}"/>
              </a:ext>
            </a:extLst>
          </p:cNvPr>
          <p:cNvSpPr>
            <a:spLocks noGrp="1"/>
          </p:cNvSpPr>
          <p:nvPr>
            <p:ph type="title"/>
          </p:nvPr>
        </p:nvSpPr>
        <p:spPr>
          <a:xfrm>
            <a:off x="8724900" y="414778"/>
            <a:ext cx="2628900" cy="5757421"/>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B5973F8F-61F0-4F6F-993C-230D9089A7B2}"/>
              </a:ext>
            </a:extLst>
          </p:cNvPr>
          <p:cNvSpPr>
            <a:spLocks noGrp="1"/>
          </p:cNvSpPr>
          <p:nvPr>
            <p:ph type="body" idx="1"/>
          </p:nvPr>
        </p:nvSpPr>
        <p:spPr>
          <a:xfrm>
            <a:off x="838200" y="414778"/>
            <a:ext cx="7734300" cy="5757422"/>
          </a:xfrm>
        </p:spPr>
        <p:txBody>
          <a:bodyPr vert="eaVert" lIns="45720" tIns="0" rIns="45720" bIns="0"/>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5B7DF63-F6A9-49D4-B82C-BB86A9B0B083}"/>
              </a:ext>
            </a:extLst>
          </p:cNvPr>
          <p:cNvSpPr>
            <a:spLocks noGrp="1"/>
          </p:cNvSpPr>
          <p:nvPr>
            <p:ph type="dt" idx="10"/>
          </p:nvPr>
        </p:nvSpPr>
        <p:spPr/>
        <p:txBody>
          <a:bodyPr/>
          <a:lstStyle/>
          <a:p>
            <a:fld id="{1C71DD98-2949-4E76-9A4A-B884F342E268}" type="datetimeFigureOut">
              <a:t>8/18/2026</a:t>
            </a:fld>
            <a:endParaRPr/>
          </a:p>
        </p:txBody>
      </p:sp>
      <p:sp>
        <p:nvSpPr>
          <p:cNvPr id="5" name="Footer Placeholder 4">
            <a:extLst>
              <a:ext uri="{FF2B5EF4-FFF2-40B4-BE49-F238E27FC236}">
                <a16:creationId xmlns:a16="http://schemas.microsoft.com/office/drawing/2014/main" id="{4D5953A3-9C00-4A5F-8D0E-8A1DFF0A5E6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E903E1C-4935-4411-90F1-CBAF71299513}"/>
              </a:ext>
            </a:extLst>
          </p:cNvPr>
          <p:cNvSpPr>
            <a:spLocks noGrp="1"/>
          </p:cNvSpPr>
          <p:nvPr>
            <p:ph type="sldNum" idx="12"/>
          </p:nvPr>
        </p:nvSpPr>
        <p:spPr/>
        <p:txBody>
          <a:bodyPr/>
          <a:lstStyle/>
          <a:p>
            <a:fld id="{53FE51C4-F385-4370-8BCD-D995C5FFF64D}"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B55249D-947D-44EC-83B6-5F9625F4B7EA}"/>
              </a:ext>
            </a:extLst>
          </p:cNvPr>
          <p:cNvSpPr>
            <a:spLocks noGrp="1"/>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9" name="Rectangle 8">
            <a:extLst>
              <a:ext uri="{FF2B5EF4-FFF2-40B4-BE49-F238E27FC236}">
                <a16:creationId xmlns:a16="http://schemas.microsoft.com/office/drawing/2014/main" id="{8097F595-DDC6-4311-86C7-F9B5402CAD53}"/>
              </a:ext>
            </a:extLst>
          </p:cNvPr>
          <p:cNvSpPr>
            <a:spLocks noGrp="1"/>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sp>
        <p:nvSpPr>
          <p:cNvPr id="2" name="Title Placeholder 1">
            <a:extLst>
              <a:ext uri="{FF2B5EF4-FFF2-40B4-BE49-F238E27FC236}">
                <a16:creationId xmlns:a16="http://schemas.microsoft.com/office/drawing/2014/main" id="{6A0320B3-F0D7-4EBB-BCA9-00D802E74308}"/>
              </a:ext>
            </a:extLst>
          </p:cNvPr>
          <p:cNvSpPr>
            <a:spLocks noGrp="1"/>
          </p:cNvSpPr>
          <p:nvPr>
            <p:ph type="title"/>
          </p:nvPr>
        </p:nvSpPr>
        <p:spPr>
          <a:xfrm>
            <a:off x="1097280" y="286603"/>
            <a:ext cx="10058400" cy="1450757"/>
          </a:xfrm>
          <a:prstGeom prst="rect">
            <a:avLst/>
          </a:prstGeom>
        </p:spPr>
        <p:txBody>
          <a:bodyPr vert="horz" lIns="91440" tIns="45720" rIns="91440" bIns="45720" anchor="b">
            <a:normAutofit/>
          </a:bodyPr>
          <a:lstStyle/>
          <a:p>
            <a:r>
              <a:t>Click to edit Master title style</a:t>
            </a:r>
          </a:p>
        </p:txBody>
      </p:sp>
      <p:sp>
        <p:nvSpPr>
          <p:cNvPr id="3" name="Text Placeholder 2">
            <a:extLst>
              <a:ext uri="{FF2B5EF4-FFF2-40B4-BE49-F238E27FC236}">
                <a16:creationId xmlns:a16="http://schemas.microsoft.com/office/drawing/2014/main" id="{105C29C9-7165-4A8C-85A7-F345A016EBD0}"/>
              </a:ext>
            </a:extLst>
          </p:cNvPr>
          <p:cNvSpPr>
            <a:spLocks noGrp="1"/>
          </p:cNvSpPr>
          <p:nvPr>
            <p:ph type="body" idx="1"/>
          </p:nvPr>
        </p:nvSpPr>
        <p:spPr>
          <a:xfrm>
            <a:off x="1097280" y="1845734"/>
            <a:ext cx="10058400" cy="4023360"/>
          </a:xfrm>
          <a:prstGeom prst="rect">
            <a:avLst/>
          </a:prstGeom>
        </p:spPr>
        <p:txBody>
          <a:bodyPr vert="horz" lIns="0" tIns="45720" rIns="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3A7ED3-4A94-40F6-A59C-89CC78C58EF1}"/>
              </a:ext>
            </a:extLst>
          </p:cNvPr>
          <p:cNvSpPr>
            <a:spLocks noGrp="1"/>
          </p:cNvSpPr>
          <p:nvPr>
            <p:ph type="dt" idx="2"/>
          </p:nvPr>
        </p:nvSpPr>
        <p:spPr>
          <a:xfrm>
            <a:off x="1097280" y="6459785"/>
            <a:ext cx="2472271" cy="365125"/>
          </a:xfrm>
          <a:prstGeom prst="rect">
            <a:avLst/>
          </a:prstGeom>
        </p:spPr>
        <p:txBody>
          <a:bodyPr vert="horz" lIns="91440" tIns="45720" rIns="91440" bIns="45720" anchor="ctr"/>
          <a:lstStyle>
            <a:lvl1pPr algn="l">
              <a:buNone/>
              <a:defRPr sz="900">
                <a:solidFill>
                  <a:srgbClr val="FFFFFF"/>
                </a:solidFill>
              </a:defRPr>
            </a:lvl1pPr>
          </a:lstStyle>
          <a:p>
            <a:fld id="{1C71DD98-2949-4E76-9A4A-B884F342E268}" type="datetimeFigureOut">
              <a:t>8/18/2026</a:t>
            </a:fld>
            <a:endParaRPr/>
          </a:p>
        </p:txBody>
      </p:sp>
      <p:sp>
        <p:nvSpPr>
          <p:cNvPr id="5" name="Footer Placeholder 4">
            <a:extLst>
              <a:ext uri="{FF2B5EF4-FFF2-40B4-BE49-F238E27FC236}">
                <a16:creationId xmlns:a16="http://schemas.microsoft.com/office/drawing/2014/main" id="{215EA31A-12D6-4839-8513-C542528FCA5C}"/>
              </a:ext>
            </a:extLst>
          </p:cNvPr>
          <p:cNvSpPr>
            <a:spLocks noGrp="1"/>
          </p:cNvSpPr>
          <p:nvPr>
            <p:ph type="ftr" idx="3"/>
          </p:nvPr>
        </p:nvSpPr>
        <p:spPr>
          <a:xfrm>
            <a:off x="3686185" y="6459785"/>
            <a:ext cx="4822804" cy="365125"/>
          </a:xfrm>
          <a:prstGeom prst="rect">
            <a:avLst/>
          </a:prstGeom>
        </p:spPr>
        <p:txBody>
          <a:bodyPr vert="horz" lIns="91440" tIns="45720" rIns="91440" bIns="45720" anchor="ctr"/>
          <a:lstStyle>
            <a:lvl1pPr algn="ctr">
              <a:buNone/>
              <a:defRPr sz="900" cap="all" baseline="0">
                <a:solidFill>
                  <a:srgbClr val="FFFFFF"/>
                </a:solidFill>
              </a:defRPr>
            </a:lvl1pPr>
          </a:lstStyle>
          <a:p>
            <a:endParaRPr/>
          </a:p>
        </p:txBody>
      </p:sp>
      <p:sp>
        <p:nvSpPr>
          <p:cNvPr id="6" name="Slide Number Placeholder 5">
            <a:extLst>
              <a:ext uri="{FF2B5EF4-FFF2-40B4-BE49-F238E27FC236}">
                <a16:creationId xmlns:a16="http://schemas.microsoft.com/office/drawing/2014/main" id="{39C58D4C-5C13-4A91-90CF-22F708179384}"/>
              </a:ext>
            </a:extLst>
          </p:cNvPr>
          <p:cNvSpPr>
            <a:spLocks noGrp="1"/>
          </p:cNvSpPr>
          <p:nvPr>
            <p:ph type="sldNum" idx="4"/>
          </p:nvPr>
        </p:nvSpPr>
        <p:spPr>
          <a:xfrm>
            <a:off x="9900458" y="6459785"/>
            <a:ext cx="1312025" cy="365125"/>
          </a:xfrm>
          <a:prstGeom prst="rect">
            <a:avLst/>
          </a:prstGeom>
        </p:spPr>
        <p:txBody>
          <a:bodyPr vert="horz" lIns="91440" tIns="45720" rIns="91440" bIns="45720" anchor="ctr"/>
          <a:lstStyle>
            <a:lvl1pPr algn="r">
              <a:buNone/>
              <a:defRPr sz="1050">
                <a:solidFill>
                  <a:srgbClr val="FFFFFF"/>
                </a:solidFill>
              </a:defRPr>
            </a:lvl1pPr>
          </a:lstStyle>
          <a:p>
            <a:fld id="{53FE51C4-F385-4370-8BCD-D995C5FFF64D}" type="slidenum">
              <a:t>‹#›</a:t>
            </a:fld>
            <a:endParaRPr/>
          </a:p>
        </p:txBody>
      </p:sp>
      <p:sp>
        <p:nvSpPr>
          <p:cNvPr id="10" name="Straight Connector 9">
            <a:extLst>
              <a:ext uri="{FF2B5EF4-FFF2-40B4-BE49-F238E27FC236}">
                <a16:creationId xmlns:a16="http://schemas.microsoft.com/office/drawing/2014/main" id="{D5D2921B-C328-43CF-B83B-1E48D7035D34}"/>
              </a:ext>
            </a:extLst>
          </p:cNvPr>
          <p:cNvSpPr>
            <a:spLocks noGrp="1"/>
          </p:cNvSpPr>
          <p:nvPr/>
        </p:nv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85000"/>
        </a:lnSpc>
        <a:spcBef>
          <a:spcPct val="0"/>
        </a:spcBef>
        <a:buNone/>
        <a:defRPr sz="4800" kern="1200" spc="-50" baseline="0">
          <a:solidFill>
            <a:schemeClr val="tx1">
              <a:lumMod val="75000"/>
              <a:lumOff val="25000"/>
            </a:schemeClr>
          </a:solidFill>
          <a:latin typeface="+mj-lt"/>
          <a:ea typeface="+mj-lt"/>
          <a:cs typeface="+mj-lt"/>
        </a:defRPr>
      </a:lvl1pPr>
    </p:titleStyle>
    <p:bodyStyle>
      <a:lvl1pPr marL="91440" indent="-91440" algn="l" defTabSz="914400">
        <a:lnSpc>
          <a:spcPct val="90000"/>
        </a:lnSpc>
        <a:spcBef>
          <a:spcPts val="1200"/>
        </a:spcBef>
        <a:spcAft>
          <a:spcPts val="200"/>
        </a:spcAft>
        <a:buClr>
          <a:schemeClr val="accent1"/>
        </a:buClr>
        <a:buSzPct val="100000"/>
        <a:buFont typeface="Calibri"/>
        <a:buChar char=" "/>
        <a:defRPr sz="2000" kern="1200">
          <a:solidFill>
            <a:schemeClr val="tx1">
              <a:lumMod val="75000"/>
              <a:lumOff val="25000"/>
            </a:schemeClr>
          </a:solidFill>
          <a:latin typeface="+mn-lt"/>
          <a:ea typeface="+mn-lt"/>
          <a:cs typeface="+mn-lt"/>
        </a:defRPr>
      </a:lvl1pPr>
      <a:lvl2pPr marL="384048" indent="-182880" algn="l" defTabSz="914400">
        <a:lnSpc>
          <a:spcPct val="90000"/>
        </a:lnSpc>
        <a:spcBef>
          <a:spcPts val="200"/>
        </a:spcBef>
        <a:spcAft>
          <a:spcPts val="400"/>
        </a:spcAft>
        <a:buClr>
          <a:schemeClr val="accent1"/>
        </a:buClr>
        <a:buFont typeface="Calibri"/>
        <a:buChar char="◦"/>
        <a:defRPr sz="1800" kern="1200">
          <a:solidFill>
            <a:schemeClr val="tx1">
              <a:lumMod val="75000"/>
              <a:lumOff val="25000"/>
            </a:schemeClr>
          </a:solidFill>
          <a:latin typeface="+mn-lt"/>
          <a:ea typeface="+mn-lt"/>
          <a:cs typeface="+mn-lt"/>
        </a:defRPr>
      </a:lvl2pPr>
      <a:lvl3pPr marL="56692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3pPr>
      <a:lvl4pPr marL="74980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4pPr>
      <a:lvl5pPr marL="932688" indent="-18288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5pPr>
      <a:lvl6pPr marL="11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6pPr>
      <a:lvl7pPr marL="13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7pPr>
      <a:lvl8pPr marL="15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8pPr>
      <a:lvl9pPr marL="1700000" indent="-228600" algn="l" defTabSz="914400">
        <a:lnSpc>
          <a:spcPct val="90000"/>
        </a:lnSpc>
        <a:spcBef>
          <a:spcPts val="200"/>
        </a:spcBef>
        <a:spcAft>
          <a:spcPts val="400"/>
        </a:spcAft>
        <a:buClr>
          <a:schemeClr val="accent1"/>
        </a:buClr>
        <a:buFont typeface="Calibri"/>
        <a:buChar char="◦"/>
        <a:defRPr sz="1400" kern="1200">
          <a:solidFill>
            <a:schemeClr val="tx1">
              <a:lumMod val="75000"/>
              <a:lumOff val="25000"/>
            </a:schemeClr>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969DA-D8A9-1905-9583-540A8A809B85}"/>
              </a:ext>
            </a:extLst>
          </p:cNvPr>
          <p:cNvSpPr>
            <a:spLocks noGrp="1"/>
          </p:cNvSpPr>
          <p:nvPr>
            <p:ph type="ctrTitle"/>
          </p:nvPr>
        </p:nvSpPr>
        <p:spPr>
          <a:xfrm>
            <a:off x="742950" y="1697504"/>
            <a:ext cx="10706100" cy="1143000"/>
          </a:xfrm>
        </p:spPr>
        <p:txBody>
          <a:bodyPr vert="horz" lIns="91440" tIns="45720" rIns="91440" bIns="45720" anchor="t">
            <a:noAutofit/>
          </a:bodyPr>
          <a:lstStyle/>
          <a:p>
            <a:pPr algn="ctr">
              <a:buNone/>
              <a:defRPr sz="3000">
                <a:solidFill>
                  <a:srgbClr val="373545"/>
                </a:solidFill>
              </a:defRPr>
            </a:pPr>
            <a:r>
              <a:rPr sz="5400" dirty="0">
                <a:solidFill>
                  <a:srgbClr val="373545"/>
                </a:solidFill>
              </a:rPr>
              <a:t>Transportation Cost Prediction Using Machine Learning</a:t>
            </a:r>
          </a:p>
        </p:txBody>
      </p:sp>
      <p:sp>
        <p:nvSpPr>
          <p:cNvPr id="3" name="Subtitle 2">
            <a:extLst>
              <a:ext uri="{FF2B5EF4-FFF2-40B4-BE49-F238E27FC236}">
                <a16:creationId xmlns:a16="http://schemas.microsoft.com/office/drawing/2014/main" id="{95C76F4B-6075-6CA7-46D2-9C10E9F368BA}"/>
              </a:ext>
            </a:extLst>
          </p:cNvPr>
          <p:cNvSpPr>
            <a:spLocks noGrp="1"/>
          </p:cNvSpPr>
          <p:nvPr>
            <p:ph type="subTitle" idx="1"/>
          </p:nvPr>
        </p:nvSpPr>
        <p:spPr>
          <a:xfrm>
            <a:off x="1797666" y="4588996"/>
            <a:ext cx="8596668" cy="1766834"/>
          </a:xfrm>
        </p:spPr>
        <p:txBody>
          <a:bodyPr vert="horz" lIns="91440" tIns="45720" rIns="91440" bIns="45720">
            <a:normAutofit fontScale="96223"/>
          </a:bodyPr>
          <a:lstStyle/>
          <a:p>
            <a:pPr algn="ctr">
              <a:buNone/>
            </a:pPr>
            <a:r>
              <a:rPr sz="2000" dirty="0">
                <a:solidFill>
                  <a:schemeClr val="tx1">
                    <a:lumMod val="75000"/>
                    <a:lumOff val="25000"/>
                  </a:schemeClr>
                </a:solidFill>
              </a:rPr>
              <a:t>Supporting More Accurate Customer Quotes at Gallagher Transport International</a:t>
            </a:r>
          </a:p>
          <a:p>
            <a:pPr algn="ctr">
              <a:buNone/>
            </a:pPr>
            <a:r>
              <a:rPr sz="2000" dirty="0" err="1">
                <a:solidFill>
                  <a:schemeClr val="tx1">
                    <a:lumMod val="75000"/>
                    <a:lumOff val="25000"/>
                  </a:schemeClr>
                </a:solidFill>
              </a:rPr>
              <a:t>Maryi</a:t>
            </a:r>
            <a:r>
              <a:rPr sz="2000" dirty="0">
                <a:solidFill>
                  <a:schemeClr val="tx1">
                    <a:lumMod val="75000"/>
                    <a:lumOff val="25000"/>
                  </a:schemeClr>
                </a:solidFill>
              </a:rPr>
              <a:t> Tatiana Palacios Giraldo | Regis University | Practicum II</a:t>
            </a:r>
          </a:p>
          <a:p>
            <a:pPr algn="ctr">
              <a:buNone/>
            </a:pPr>
            <a:r>
              <a:rPr sz="2000" dirty="0">
                <a:solidFill>
                  <a:schemeClr val="tx1">
                    <a:lumMod val="75000"/>
                    <a:lumOff val="25000"/>
                  </a:schemeClr>
                </a:solidFill>
              </a:rPr>
              <a:t>August 2026</a:t>
            </a:r>
          </a:p>
        </p:txBody>
      </p:sp>
    </p:spTree>
    <p:extLst>
      <p:ext uri="{BB962C8B-B14F-4D97-AF65-F5344CB8AC3E}">
        <p14:creationId xmlns:p14="http://schemas.microsoft.com/office/powerpoint/2010/main" val="3102675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Gallagher should pilot a quote-range tool to help brokers prepare more accurate and consistent customer quotes.</a:t>
            </a:r>
          </a:p>
        </p:txBody>
      </p:sp>
      <p:sp>
        <p:nvSpPr>
          <p:cNvPr id="3" name="story-role">
            <a:extLst>
              <a:ext uri="{FF2B5EF4-FFF2-40B4-BE49-F238E27FC236}">
                <a16:creationId xmlns:a16="http://schemas.microsoft.com/office/drawing/2014/main" id="{B2BB3FF0-A81D-49E3-B6BC-B8AFD129A0C5}"/>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THE ANSWER</a:t>
            </a:r>
          </a:p>
        </p:txBody>
      </p:sp>
      <p:sp>
        <p:nvSpPr>
          <p:cNvPr id="4" name="text">
            <a:extLst>
              <a:ext uri="{FF2B5EF4-FFF2-40B4-BE49-F238E27FC236}">
                <a16:creationId xmlns:a16="http://schemas.microsoft.com/office/drawing/2014/main" id="{DE53558A-AD9A-42E8-9133-0E1507C682A7}"/>
              </a:ext>
            </a:extLst>
          </p:cNvPr>
          <p:cNvSpPr>
            <a:spLocks noGrp="1"/>
          </p:cNvSpPr>
          <p:nvPr/>
        </p:nvSpPr>
        <p:spPr>
          <a:xfrm>
            <a:off x="857250" y="2000250"/>
            <a:ext cx="2381250" cy="419100"/>
          </a:xfrm>
          <a:prstGeom prst="rect">
            <a:avLst/>
          </a:prstGeom>
          <a:noFill/>
          <a:ln w="0">
            <a:noFill/>
            <a:prstDash val="solid"/>
          </a:ln>
        </p:spPr>
        <p:txBody>
          <a:bodyPr/>
          <a:lstStyle/>
          <a:p>
            <a:pPr>
              <a:buNone/>
              <a:defRPr sz="1350" b="1">
                <a:solidFill>
                  <a:srgbClr val="3494BA"/>
                </a:solidFill>
              </a:defRPr>
            </a:pPr>
            <a:r>
              <a:rPr sz="1350" b="1">
                <a:solidFill>
                  <a:srgbClr val="3494BA"/>
                </a:solidFill>
              </a:rPr>
              <a:t>DECISION</a:t>
            </a:r>
          </a:p>
        </p:txBody>
      </p:sp>
      <p:sp>
        <p:nvSpPr>
          <p:cNvPr id="5" name="text">
            <a:extLst>
              <a:ext uri="{FF2B5EF4-FFF2-40B4-BE49-F238E27FC236}">
                <a16:creationId xmlns:a16="http://schemas.microsoft.com/office/drawing/2014/main" id="{26D91CAD-0EBB-4D80-8F30-B25E4763CC7B}"/>
              </a:ext>
            </a:extLst>
          </p:cNvPr>
          <p:cNvSpPr>
            <a:spLocks noGrp="1"/>
          </p:cNvSpPr>
          <p:nvPr/>
        </p:nvSpPr>
        <p:spPr>
          <a:xfrm>
            <a:off x="857250" y="2400300"/>
            <a:ext cx="5143500" cy="1428750"/>
          </a:xfrm>
          <a:prstGeom prst="rect">
            <a:avLst/>
          </a:prstGeom>
          <a:noFill/>
          <a:ln w="0">
            <a:noFill/>
            <a:prstDash val="solid"/>
          </a:ln>
        </p:spPr>
        <p:txBody>
          <a:bodyPr/>
          <a:lstStyle/>
          <a:p>
            <a:pPr>
              <a:buNone/>
              <a:defRPr sz="2250" b="1">
                <a:solidFill>
                  <a:srgbClr val="173F5F"/>
                </a:solidFill>
              </a:defRPr>
            </a:pPr>
            <a:r>
              <a:rPr sz="2250" b="1">
                <a:solidFill>
                  <a:srgbClr val="173F5F"/>
                </a:solidFill>
              </a:rPr>
              <a:t>Use the quote-range tool for routine shipments, with human review for unusual or wide-range cases.</a:t>
            </a:r>
          </a:p>
        </p:txBody>
      </p:sp>
      <p:sp>
        <p:nvSpPr>
          <p:cNvPr id="6" name="decision-divider">
            <a:extLst>
              <a:ext uri="{FF2B5EF4-FFF2-40B4-BE49-F238E27FC236}">
                <a16:creationId xmlns:a16="http://schemas.microsoft.com/office/drawing/2014/main" id="{2E3B2ED6-A266-4874-8122-538913705B56}"/>
              </a:ext>
            </a:extLst>
          </p:cNvPr>
          <p:cNvSpPr>
            <a:spLocks noGrp="1"/>
          </p:cNvSpPr>
          <p:nvPr/>
        </p:nvSpPr>
        <p:spPr>
          <a:xfrm>
            <a:off x="6381750" y="2095500"/>
            <a:ext cx="0" cy="2857500"/>
          </a:xfrm>
          <a:prstGeom prst="line">
            <a:avLst/>
          </a:prstGeom>
          <a:ln w="28575">
            <a:solidFill>
              <a:srgbClr val="58B6C0"/>
            </a:solidFill>
            <a:prstDash val="solid"/>
          </a:ln>
        </p:spPr>
        <p:txBody>
          <a:bodyPr/>
          <a:lstStyle/>
          <a:p>
            <a:endParaRPr lang="en-US"/>
          </a:p>
        </p:txBody>
      </p:sp>
      <p:sp>
        <p:nvSpPr>
          <p:cNvPr id="7" name="metric-future costs captured by the range">
            <a:extLst>
              <a:ext uri="{FF2B5EF4-FFF2-40B4-BE49-F238E27FC236}">
                <a16:creationId xmlns:a16="http://schemas.microsoft.com/office/drawing/2014/main" id="{9DF13477-967E-4562-9334-167A53A59B9C}"/>
              </a:ext>
            </a:extLst>
          </p:cNvPr>
          <p:cNvSpPr>
            <a:spLocks noGrp="1"/>
          </p:cNvSpPr>
          <p:nvPr/>
        </p:nvSpPr>
        <p:spPr>
          <a:xfrm>
            <a:off x="7810500" y="2281237"/>
            <a:ext cx="2667000" cy="742950"/>
          </a:xfrm>
          <a:prstGeom prst="rect">
            <a:avLst/>
          </a:prstGeom>
          <a:noFill/>
          <a:ln w="0">
            <a:noFill/>
            <a:prstDash val="solid"/>
          </a:ln>
        </p:spPr>
        <p:txBody>
          <a:bodyPr/>
          <a:lstStyle/>
          <a:p>
            <a:pPr algn="ctr">
              <a:buNone/>
              <a:defRPr sz="3750" b="1">
                <a:solidFill>
                  <a:srgbClr val="2A9D8F"/>
                </a:solidFill>
              </a:defRPr>
            </a:pPr>
            <a:r>
              <a:rPr sz="3750" b="1" dirty="0">
                <a:solidFill>
                  <a:srgbClr val="2A9D8F"/>
                </a:solidFill>
              </a:rPr>
              <a:t>89.3%</a:t>
            </a:r>
          </a:p>
        </p:txBody>
      </p:sp>
      <p:sp>
        <p:nvSpPr>
          <p:cNvPr id="8" name="metric-label-future costs captured by the range">
            <a:extLst>
              <a:ext uri="{FF2B5EF4-FFF2-40B4-BE49-F238E27FC236}">
                <a16:creationId xmlns:a16="http://schemas.microsoft.com/office/drawing/2014/main" id="{042ADBD4-79D2-45D2-9ED1-130C090B8E30}"/>
              </a:ext>
            </a:extLst>
          </p:cNvPr>
          <p:cNvSpPr>
            <a:spLocks noGrp="1"/>
          </p:cNvSpPr>
          <p:nvPr/>
        </p:nvSpPr>
        <p:spPr>
          <a:xfrm>
            <a:off x="7810500" y="3090862"/>
            <a:ext cx="2667000" cy="571500"/>
          </a:xfrm>
          <a:prstGeom prst="rect">
            <a:avLst/>
          </a:prstGeom>
          <a:noFill/>
          <a:ln w="0">
            <a:noFill/>
            <a:prstDash val="solid"/>
          </a:ln>
        </p:spPr>
        <p:txBody>
          <a:bodyPr/>
          <a:lstStyle/>
          <a:p>
            <a:pPr algn="ctr">
              <a:buNone/>
              <a:defRPr sz="1500">
                <a:solidFill>
                  <a:srgbClr val="6B7280"/>
                </a:solidFill>
              </a:defRPr>
            </a:pPr>
            <a:r>
              <a:rPr sz="1500" dirty="0">
                <a:solidFill>
                  <a:srgbClr val="6B7280"/>
                </a:solidFill>
              </a:rPr>
              <a:t>future costs captured by the range</a:t>
            </a:r>
          </a:p>
        </p:txBody>
      </p:sp>
      <p:sp>
        <p:nvSpPr>
          <p:cNvPr id="11" name="text">
            <a:extLst>
              <a:ext uri="{FF2B5EF4-FFF2-40B4-BE49-F238E27FC236}">
                <a16:creationId xmlns:a16="http://schemas.microsoft.com/office/drawing/2014/main" id="{7E550417-BF5F-4D50-AEA3-9DD7B9684C51}"/>
              </a:ext>
            </a:extLst>
          </p:cNvPr>
          <p:cNvSpPr>
            <a:spLocks noGrp="1"/>
          </p:cNvSpPr>
          <p:nvPr/>
        </p:nvSpPr>
        <p:spPr>
          <a:xfrm>
            <a:off x="857250" y="4762500"/>
            <a:ext cx="5143500" cy="361950"/>
          </a:xfrm>
          <a:prstGeom prst="rect">
            <a:avLst/>
          </a:prstGeom>
          <a:noFill/>
          <a:ln w="0">
            <a:noFill/>
            <a:prstDash val="solid"/>
          </a:ln>
        </p:spPr>
        <p:txBody>
          <a:bodyPr/>
          <a:lstStyle/>
          <a:p>
            <a:pPr>
              <a:buNone/>
              <a:defRPr sz="1500" b="1">
                <a:solidFill>
                  <a:srgbClr val="373545"/>
                </a:solidFill>
              </a:defRPr>
            </a:pPr>
            <a:r>
              <a:rPr sz="1500" b="1" dirty="0">
                <a:solidFill>
                  <a:srgbClr val="373545"/>
                </a:solidFill>
              </a:rPr>
              <a:t>Owner: Brokerage leadership</a:t>
            </a:r>
          </a:p>
        </p:txBody>
      </p:sp>
      <p:sp>
        <p:nvSpPr>
          <p:cNvPr id="12" name="text">
            <a:extLst>
              <a:ext uri="{FF2B5EF4-FFF2-40B4-BE49-F238E27FC236}">
                <a16:creationId xmlns:a16="http://schemas.microsoft.com/office/drawing/2014/main" id="{53FB5AEF-555C-4E34-925E-219146A4F962}"/>
              </a:ext>
            </a:extLst>
          </p:cNvPr>
          <p:cNvSpPr>
            <a:spLocks noGrp="1"/>
          </p:cNvSpPr>
          <p:nvPr/>
        </p:nvSpPr>
        <p:spPr>
          <a:xfrm>
            <a:off x="857250" y="5191125"/>
            <a:ext cx="9906000" cy="571500"/>
          </a:xfrm>
          <a:prstGeom prst="rect">
            <a:avLst/>
          </a:prstGeom>
          <a:noFill/>
          <a:ln w="0">
            <a:noFill/>
            <a:prstDash val="solid"/>
          </a:ln>
        </p:spPr>
        <p:txBody>
          <a:bodyPr/>
          <a:lstStyle/>
          <a:p>
            <a:pPr>
              <a:buNone/>
              <a:defRPr sz="1800">
                <a:solidFill>
                  <a:srgbClr val="6B7280"/>
                </a:solidFill>
              </a:defRPr>
            </a:pPr>
            <a:r>
              <a:rPr sz="1800" dirty="0">
                <a:solidFill>
                  <a:srgbClr val="6B7280"/>
                </a:solidFill>
              </a:rPr>
              <a:t>Value: more consistent quotes, transparent uncertainty, and fewer avoidable margin surprises</a:t>
            </a:r>
          </a:p>
        </p:txBody>
      </p:sp>
    </p:spTree>
    <p:extLst>
      <p:ext uri="{BB962C8B-B14F-4D97-AF65-F5344CB8AC3E}">
        <p14:creationId xmlns:p14="http://schemas.microsoft.com/office/powerpoint/2010/main" val="1621312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Gallagher's 7,167 finalized shipments represent a business dominated by sea and air transportation.</a:t>
            </a:r>
          </a:p>
        </p:txBody>
      </p:sp>
      <p:sp>
        <p:nvSpPr>
          <p:cNvPr id="3" name="story-role">
            <a:extLst>
              <a:ext uri="{FF2B5EF4-FFF2-40B4-BE49-F238E27FC236}">
                <a16:creationId xmlns:a16="http://schemas.microsoft.com/office/drawing/2014/main" id="{7C07909D-2060-42AE-9793-74A295F7C956}"/>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SITUATION</a:t>
            </a:r>
          </a:p>
        </p:txBody>
      </p:sp>
      <p:sp>
        <p:nvSpPr>
          <p:cNvPr id="4" name="text">
            <a:extLst>
              <a:ext uri="{FF2B5EF4-FFF2-40B4-BE49-F238E27FC236}">
                <a16:creationId xmlns:a16="http://schemas.microsoft.com/office/drawing/2014/main" id="{1CDF8D33-8BDC-49C1-B4AB-219FFA66A825}"/>
              </a:ext>
            </a:extLst>
          </p:cNvPr>
          <p:cNvSpPr>
            <a:spLocks noGrp="1"/>
          </p:cNvSpPr>
          <p:nvPr/>
        </p:nvSpPr>
        <p:spPr>
          <a:xfrm>
            <a:off x="857250" y="1952625"/>
            <a:ext cx="3429000" cy="285750"/>
          </a:xfrm>
          <a:prstGeom prst="rect">
            <a:avLst/>
          </a:prstGeom>
          <a:noFill/>
          <a:ln w="0">
            <a:noFill/>
            <a:prstDash val="solid"/>
          </a:ln>
        </p:spPr>
        <p:txBody>
          <a:bodyPr/>
          <a:lstStyle/>
          <a:p>
            <a:pPr>
              <a:defRPr sz="1275" b="1">
                <a:solidFill>
                  <a:srgbClr val="3494BA"/>
                </a:solidFill>
              </a:defRPr>
            </a:pPr>
            <a:r>
              <a:rPr sz="1275" b="1">
                <a:solidFill>
                  <a:srgbClr val="3494BA"/>
                </a:solidFill>
              </a:rPr>
              <a:t>DECEMBER 2025 – JUNE 2026</a:t>
            </a:r>
          </a:p>
        </p:txBody>
      </p:sp>
      <p:graphicFrame>
        <p:nvGraphicFramePr>
          <p:cNvPr id="15" name="Chart"/>
          <p:cNvGraphicFramePr/>
          <p:nvPr/>
        </p:nvGraphicFramePr>
        <p:xfrm>
          <a:off x="781050" y="2333625"/>
          <a:ext cx="6572250" cy="3000375"/>
        </p:xfrm>
        <a:graphic>
          <a:graphicData uri="http://schemas.openxmlformats.org/drawingml/2006/chart">
            <c:chart xmlns:c="http://schemas.openxmlformats.org/drawingml/2006/chart" xmlns:r="http://schemas.openxmlformats.org/officeDocument/2006/relationships" r:id="rId3"/>
          </a:graphicData>
        </a:graphic>
      </p:graphicFrame>
      <p:sp>
        <p:nvSpPr>
          <p:cNvPr id="6" name="data-context">
            <a:extLst>
              <a:ext uri="{FF2B5EF4-FFF2-40B4-BE49-F238E27FC236}">
                <a16:creationId xmlns:a16="http://schemas.microsoft.com/office/drawing/2014/main" id="{4F41FE01-22F8-4A8F-B64F-5A306748044B}"/>
              </a:ext>
            </a:extLst>
          </p:cNvPr>
          <p:cNvSpPr>
            <a:spLocks noGrp="1"/>
          </p:cNvSpPr>
          <p:nvPr/>
        </p:nvSpPr>
        <p:spPr>
          <a:xfrm>
            <a:off x="7858125" y="2333625"/>
            <a:ext cx="3381375" cy="3000375"/>
          </a:xfrm>
          <a:prstGeom prst="roundRect">
            <a:avLst>
              <a:gd name="adj" fmla="val 3810"/>
            </a:avLst>
          </a:prstGeom>
          <a:solidFill>
            <a:srgbClr val="F5F8FA"/>
          </a:solidFill>
          <a:ln w="9525">
            <a:solidFill>
              <a:srgbClr val="58B6C0"/>
            </a:solidFill>
            <a:prstDash val="solid"/>
          </a:ln>
        </p:spPr>
        <p:txBody>
          <a:bodyPr/>
          <a:lstStyle/>
          <a:p>
            <a:endParaRPr lang="en-US"/>
          </a:p>
        </p:txBody>
      </p:sp>
      <p:sp>
        <p:nvSpPr>
          <p:cNvPr id="7" name="text">
            <a:extLst>
              <a:ext uri="{FF2B5EF4-FFF2-40B4-BE49-F238E27FC236}">
                <a16:creationId xmlns:a16="http://schemas.microsoft.com/office/drawing/2014/main" id="{FC4298A3-E6EC-4848-B885-C80576D50615}"/>
              </a:ext>
            </a:extLst>
          </p:cNvPr>
          <p:cNvSpPr>
            <a:spLocks noGrp="1"/>
          </p:cNvSpPr>
          <p:nvPr/>
        </p:nvSpPr>
        <p:spPr>
          <a:xfrm>
            <a:off x="8239125" y="2714625"/>
            <a:ext cx="2619375" cy="619125"/>
          </a:xfrm>
          <a:prstGeom prst="rect">
            <a:avLst/>
          </a:prstGeom>
          <a:noFill/>
          <a:ln w="0">
            <a:noFill/>
            <a:prstDash val="solid"/>
          </a:ln>
        </p:spPr>
        <p:txBody>
          <a:bodyPr/>
          <a:lstStyle/>
          <a:p>
            <a:pPr algn="ctr">
              <a:defRPr sz="3450" b="1">
                <a:solidFill>
                  <a:srgbClr val="173F5F"/>
                </a:solidFill>
              </a:defRPr>
            </a:pPr>
            <a:r>
              <a:rPr sz="3450" b="1">
                <a:solidFill>
                  <a:srgbClr val="173F5F"/>
                </a:solidFill>
              </a:rPr>
              <a:t>9,720</a:t>
            </a:r>
          </a:p>
        </p:txBody>
      </p:sp>
      <p:sp>
        <p:nvSpPr>
          <p:cNvPr id="8" name="text">
            <a:extLst>
              <a:ext uri="{FF2B5EF4-FFF2-40B4-BE49-F238E27FC236}">
                <a16:creationId xmlns:a16="http://schemas.microsoft.com/office/drawing/2014/main" id="{1E2E2503-DDAB-442C-8A55-54918B153021}"/>
              </a:ext>
            </a:extLst>
          </p:cNvPr>
          <p:cNvSpPr>
            <a:spLocks noGrp="1"/>
          </p:cNvSpPr>
          <p:nvPr/>
        </p:nvSpPr>
        <p:spPr>
          <a:xfrm>
            <a:off x="8239125" y="3333750"/>
            <a:ext cx="2619375" cy="285750"/>
          </a:xfrm>
          <a:prstGeom prst="rect">
            <a:avLst/>
          </a:prstGeom>
          <a:noFill/>
          <a:ln w="0">
            <a:noFill/>
            <a:prstDash val="solid"/>
          </a:ln>
        </p:spPr>
        <p:txBody>
          <a:bodyPr/>
          <a:lstStyle/>
          <a:p>
            <a:pPr algn="ctr">
              <a:defRPr sz="1425">
                <a:solidFill>
                  <a:srgbClr val="6B7280"/>
                </a:solidFill>
              </a:defRPr>
            </a:pPr>
            <a:r>
              <a:rPr sz="1425">
                <a:solidFill>
                  <a:srgbClr val="6B7280"/>
                </a:solidFill>
              </a:rPr>
              <a:t>original records</a:t>
            </a:r>
          </a:p>
        </p:txBody>
      </p:sp>
      <p:sp>
        <p:nvSpPr>
          <p:cNvPr id="9" name="text">
            <a:extLst>
              <a:ext uri="{FF2B5EF4-FFF2-40B4-BE49-F238E27FC236}">
                <a16:creationId xmlns:a16="http://schemas.microsoft.com/office/drawing/2014/main" id="{C936C9AE-03C6-4E14-8041-189072FE34C1}"/>
              </a:ext>
            </a:extLst>
          </p:cNvPr>
          <p:cNvSpPr>
            <a:spLocks noGrp="1"/>
          </p:cNvSpPr>
          <p:nvPr/>
        </p:nvSpPr>
        <p:spPr>
          <a:xfrm>
            <a:off x="8239125" y="3857625"/>
            <a:ext cx="2619375" cy="571500"/>
          </a:xfrm>
          <a:prstGeom prst="rect">
            <a:avLst/>
          </a:prstGeom>
          <a:noFill/>
          <a:ln w="0">
            <a:noFill/>
            <a:prstDash val="solid"/>
          </a:ln>
        </p:spPr>
        <p:txBody>
          <a:bodyPr/>
          <a:lstStyle/>
          <a:p>
            <a:pPr algn="ctr">
              <a:defRPr sz="3150" b="1">
                <a:solidFill>
                  <a:srgbClr val="2A9D8F"/>
                </a:solidFill>
              </a:defRPr>
            </a:pPr>
            <a:r>
              <a:rPr sz="3150" b="1">
                <a:solidFill>
                  <a:srgbClr val="2A9D8F"/>
                </a:solidFill>
              </a:rPr>
              <a:t>7,167</a:t>
            </a:r>
          </a:p>
        </p:txBody>
      </p:sp>
      <p:sp>
        <p:nvSpPr>
          <p:cNvPr id="10" name="text">
            <a:extLst>
              <a:ext uri="{FF2B5EF4-FFF2-40B4-BE49-F238E27FC236}">
                <a16:creationId xmlns:a16="http://schemas.microsoft.com/office/drawing/2014/main" id="{C9040551-E3B6-45D4-87D2-FFDEFF69B8DC}"/>
              </a:ext>
            </a:extLst>
          </p:cNvPr>
          <p:cNvSpPr>
            <a:spLocks noGrp="1"/>
          </p:cNvSpPr>
          <p:nvPr/>
        </p:nvSpPr>
        <p:spPr>
          <a:xfrm>
            <a:off x="8239125" y="4429125"/>
            <a:ext cx="2619375" cy="304800"/>
          </a:xfrm>
          <a:prstGeom prst="rect">
            <a:avLst/>
          </a:prstGeom>
          <a:noFill/>
          <a:ln w="0">
            <a:noFill/>
            <a:prstDash val="solid"/>
          </a:ln>
        </p:spPr>
        <p:txBody>
          <a:bodyPr/>
          <a:lstStyle/>
          <a:p>
            <a:pPr algn="ctr">
              <a:defRPr sz="1425">
                <a:solidFill>
                  <a:srgbClr val="6B7280"/>
                </a:solidFill>
              </a:defRPr>
            </a:pPr>
            <a:r>
              <a:rPr sz="1425">
                <a:solidFill>
                  <a:srgbClr val="6B7280"/>
                </a:solidFill>
              </a:rPr>
              <a:t>finalized shipments used</a:t>
            </a:r>
          </a:p>
        </p:txBody>
      </p:sp>
      <p:sp>
        <p:nvSpPr>
          <p:cNvPr id="11" name="text">
            <a:extLst>
              <a:ext uri="{FF2B5EF4-FFF2-40B4-BE49-F238E27FC236}">
                <a16:creationId xmlns:a16="http://schemas.microsoft.com/office/drawing/2014/main" id="{038DBB68-CA5B-4A4F-AD89-3E042A29BEB0}"/>
              </a:ext>
            </a:extLst>
          </p:cNvPr>
          <p:cNvSpPr>
            <a:spLocks noGrp="1"/>
          </p:cNvSpPr>
          <p:nvPr/>
        </p:nvSpPr>
        <p:spPr>
          <a:xfrm>
            <a:off x="1762125" y="5695950"/>
            <a:ext cx="8667750" cy="361950"/>
          </a:xfrm>
          <a:prstGeom prst="rect">
            <a:avLst/>
          </a:prstGeom>
          <a:noFill/>
          <a:ln w="0">
            <a:noFill/>
            <a:prstDash val="solid"/>
          </a:ln>
        </p:spPr>
        <p:txBody>
          <a:bodyPr/>
          <a:lstStyle/>
          <a:p>
            <a:pPr algn="ctr">
              <a:defRPr sz="1800" b="1">
                <a:solidFill>
                  <a:srgbClr val="E76F51"/>
                </a:solidFill>
              </a:defRPr>
            </a:pPr>
            <a:r>
              <a:rPr sz="1800" b="1">
                <a:solidFill>
                  <a:srgbClr val="E76F51"/>
                </a:solidFill>
              </a:rPr>
              <a:t>Brokers must quote before the final transportation cost is known.</a:t>
            </a:r>
          </a:p>
        </p:txBody>
      </p:sp>
    </p:spTree>
    <p:extLst>
      <p:ext uri="{BB962C8B-B14F-4D97-AF65-F5344CB8AC3E}">
        <p14:creationId xmlns:p14="http://schemas.microsoft.com/office/powerpoint/2010/main" val="162131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tory-role">
            <a:extLst>
              <a:ext uri="{FF2B5EF4-FFF2-40B4-BE49-F238E27FC236}">
                <a16:creationId xmlns:a16="http://schemas.microsoft.com/office/drawing/2014/main" id="{7A546FA2-E052-4314-8FB0-E6BFA1B3CEC4}"/>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SITUATION</a:t>
            </a:r>
          </a:p>
        </p:txBody>
      </p:sp>
      <p:sp>
        <p:nvSpPr>
          <p:cNvPr id="2" name="Title Placeholder 1">
            <a:extLst>
              <a:ext uri="{FF2B5EF4-FFF2-40B4-BE49-F238E27FC236}">
                <a16:creationId xmlns:a16="http://schemas.microsoft.com/office/drawing/2014/main" id="{6A0320B3-F0D7-4EBB-BCA9-00D802E74308}"/>
              </a:ext>
            </a:extLst>
          </p:cNvPr>
          <p:cNvSpPr>
            <a:spLocks noGrp="1"/>
          </p:cNvSpPr>
          <p:nvPr>
            <p:ph type="title"/>
          </p:nvPr>
        </p:nvSpPr>
        <p:spPr>
          <a:xfrm>
            <a:off x="742950" y="457200"/>
            <a:ext cx="10706100" cy="1143000"/>
          </a:xfrm>
          <a:prstGeom prst="rect">
            <a:avLst/>
          </a:prstGeom>
        </p:spPr>
        <p:txBody>
          <a:bodyPr vert="horz" lIns="91440" tIns="45720" rIns="91440" bIns="45720" anchor="b">
            <a:normAutofit/>
          </a:bodyPr>
          <a:lstStyle/>
          <a:p>
            <a:pPr algn="l">
              <a:buNone/>
              <a:defRPr sz="3000">
                <a:solidFill>
                  <a:srgbClr val="373545"/>
                </a:solidFill>
              </a:defRPr>
            </a:pPr>
            <a:r>
              <a:rPr sz="3000">
                <a:solidFill>
                  <a:srgbClr val="373545"/>
                </a:solidFill>
              </a:rPr>
              <a:t>Typical transportation cost differs sharply by shipment type, so one reference price cannot support every quote.</a:t>
            </a:r>
            <a:endParaRPr/>
          </a:p>
        </p:txBody>
      </p:sp>
      <p:graphicFrame>
        <p:nvGraphicFramePr>
          <p:cNvPr id="21" name="Chart"/>
          <p:cNvGraphicFramePr/>
          <p:nvPr/>
        </p:nvGraphicFramePr>
        <p:xfrm>
          <a:off x="904875" y="2143125"/>
          <a:ext cx="7524750"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14" name="cost-takeaway">
            <a:extLst>
              <a:ext uri="{FF2B5EF4-FFF2-40B4-BE49-F238E27FC236}">
                <a16:creationId xmlns:a16="http://schemas.microsoft.com/office/drawing/2014/main" id="{766745EE-635A-4F3C-A2D9-6D7CB3596BEB}"/>
              </a:ext>
            </a:extLst>
          </p:cNvPr>
          <p:cNvSpPr>
            <a:spLocks noGrp="1"/>
          </p:cNvSpPr>
          <p:nvPr/>
        </p:nvSpPr>
        <p:spPr>
          <a:xfrm>
            <a:off x="8810625" y="2381250"/>
            <a:ext cx="2571750" cy="2619375"/>
          </a:xfrm>
          <a:prstGeom prst="roundRect">
            <a:avLst>
              <a:gd name="adj" fmla="val 4444"/>
            </a:avLst>
          </a:prstGeom>
          <a:solidFill>
            <a:srgbClr val="EEF6FA"/>
          </a:solidFill>
          <a:ln w="9525">
            <a:solidFill>
              <a:srgbClr val="3494BA"/>
            </a:solidFill>
            <a:prstDash val="solid"/>
          </a:ln>
        </p:spPr>
        <p:txBody>
          <a:bodyPr/>
          <a:lstStyle/>
          <a:p>
            <a:endParaRPr lang="en-US"/>
          </a:p>
        </p:txBody>
      </p:sp>
      <p:sp>
        <p:nvSpPr>
          <p:cNvPr id="15" name="text">
            <a:extLst>
              <a:ext uri="{FF2B5EF4-FFF2-40B4-BE49-F238E27FC236}">
                <a16:creationId xmlns:a16="http://schemas.microsoft.com/office/drawing/2014/main" id="{DC594E0C-4E54-42F6-9CEB-D7C34355714A}"/>
              </a:ext>
            </a:extLst>
          </p:cNvPr>
          <p:cNvSpPr>
            <a:spLocks noGrp="1"/>
          </p:cNvSpPr>
          <p:nvPr/>
        </p:nvSpPr>
        <p:spPr>
          <a:xfrm>
            <a:off x="9048750" y="2667000"/>
            <a:ext cx="2095500" cy="323850"/>
          </a:xfrm>
          <a:prstGeom prst="rect">
            <a:avLst/>
          </a:prstGeom>
          <a:noFill/>
          <a:ln w="0">
            <a:noFill/>
            <a:prstDash val="solid"/>
          </a:ln>
        </p:spPr>
        <p:txBody>
          <a:bodyPr/>
          <a:lstStyle/>
          <a:p>
            <a:pPr algn="ctr">
              <a:defRPr sz="1275" b="1">
                <a:solidFill>
                  <a:srgbClr val="3494BA"/>
                </a:solidFill>
              </a:defRPr>
            </a:pPr>
            <a:r>
              <a:rPr sz="1275" b="1">
                <a:solidFill>
                  <a:srgbClr val="3494BA"/>
                </a:solidFill>
              </a:rPr>
              <a:t>BUSINESS IMPLICATION</a:t>
            </a:r>
          </a:p>
        </p:txBody>
      </p:sp>
      <p:sp>
        <p:nvSpPr>
          <p:cNvPr id="16" name="text">
            <a:extLst>
              <a:ext uri="{FF2B5EF4-FFF2-40B4-BE49-F238E27FC236}">
                <a16:creationId xmlns:a16="http://schemas.microsoft.com/office/drawing/2014/main" id="{15DDEE97-748E-4943-A46D-801760EE924F}"/>
              </a:ext>
            </a:extLst>
          </p:cNvPr>
          <p:cNvSpPr>
            <a:spLocks noGrp="1"/>
          </p:cNvSpPr>
          <p:nvPr/>
        </p:nvSpPr>
        <p:spPr>
          <a:xfrm>
            <a:off x="9048750" y="3286125"/>
            <a:ext cx="2095500" cy="1000125"/>
          </a:xfrm>
          <a:prstGeom prst="rect">
            <a:avLst/>
          </a:prstGeom>
          <a:noFill/>
          <a:ln w="0">
            <a:noFill/>
            <a:prstDash val="solid"/>
          </a:ln>
        </p:spPr>
        <p:txBody>
          <a:bodyPr/>
          <a:lstStyle/>
          <a:p>
            <a:pPr algn="ctr">
              <a:defRPr sz="2025" b="1">
                <a:solidFill>
                  <a:srgbClr val="173F5F"/>
                </a:solidFill>
              </a:defRPr>
            </a:pPr>
            <a:r>
              <a:rPr sz="2025" b="1">
                <a:solidFill>
                  <a:srgbClr val="173F5F"/>
                </a:solidFill>
              </a:rPr>
              <a:t>SEA's typical cost was about 19× AIR's typical cost.</a:t>
            </a:r>
          </a:p>
        </p:txBody>
      </p:sp>
      <p:sp>
        <p:nvSpPr>
          <p:cNvPr id="17" name="text">
            <a:extLst>
              <a:ext uri="{FF2B5EF4-FFF2-40B4-BE49-F238E27FC236}">
                <a16:creationId xmlns:a16="http://schemas.microsoft.com/office/drawing/2014/main" id="{E7D46110-AFAC-44BD-9D2E-4B4B122CC596}"/>
              </a:ext>
            </a:extLst>
          </p:cNvPr>
          <p:cNvSpPr>
            <a:spLocks noGrp="1"/>
          </p:cNvSpPr>
          <p:nvPr/>
        </p:nvSpPr>
        <p:spPr>
          <a:xfrm>
            <a:off x="9048750" y="4381500"/>
            <a:ext cx="2095500" cy="476250"/>
          </a:xfrm>
          <a:prstGeom prst="rect">
            <a:avLst/>
          </a:prstGeom>
          <a:noFill/>
          <a:ln w="0">
            <a:noFill/>
            <a:prstDash val="solid"/>
          </a:ln>
        </p:spPr>
        <p:txBody>
          <a:bodyPr/>
          <a:lstStyle/>
          <a:p>
            <a:pPr algn="ctr">
              <a:defRPr sz="1350">
                <a:solidFill>
                  <a:srgbClr val="6B7280"/>
                </a:solidFill>
              </a:defRPr>
            </a:pPr>
            <a:r>
              <a:rPr sz="1350">
                <a:solidFill>
                  <a:srgbClr val="6B7280"/>
                </a:solidFill>
              </a:rPr>
              <a:t>The quote needs to reflect the shipment's operating profile.</a:t>
            </a:r>
          </a:p>
        </p:txBody>
      </p:sp>
      <p:sp>
        <p:nvSpPr>
          <p:cNvPr id="18" name="text">
            <a:extLst>
              <a:ext uri="{FF2B5EF4-FFF2-40B4-BE49-F238E27FC236}">
                <a16:creationId xmlns:a16="http://schemas.microsoft.com/office/drawing/2014/main" id="{1CBBB5BB-2B7C-4D1F-ABD7-BA73BAB825F0}"/>
              </a:ext>
            </a:extLst>
          </p:cNvPr>
          <p:cNvSpPr>
            <a:spLocks noGrp="1"/>
          </p:cNvSpPr>
          <p:nvPr/>
        </p:nvSpPr>
        <p:spPr>
          <a:xfrm>
            <a:off x="1524000" y="5762625"/>
            <a:ext cx="8572500" cy="266700"/>
          </a:xfrm>
          <a:prstGeom prst="rect">
            <a:avLst/>
          </a:prstGeom>
          <a:noFill/>
          <a:ln w="0">
            <a:noFill/>
            <a:prstDash val="solid"/>
          </a:ln>
        </p:spPr>
        <p:txBody>
          <a:bodyPr/>
          <a:lstStyle/>
          <a:p>
            <a:pPr algn="ctr">
              <a:defRPr sz="1275" i="1">
                <a:solidFill>
                  <a:srgbClr val="6B7280"/>
                </a:solidFill>
              </a:defRPr>
            </a:pPr>
            <a:r>
              <a:rPr sz="1275" i="1">
                <a:solidFill>
                  <a:srgbClr val="6B7280"/>
                </a:solidFill>
              </a:rPr>
              <a:t>Eligible shipments: AIR 2,220 • TRK 255 • SEA 4,247</a:t>
            </a:r>
          </a:p>
        </p:txBody>
      </p:sp>
    </p:spTree>
    <p:extLst>
      <p:ext uri="{BB962C8B-B14F-4D97-AF65-F5344CB8AC3E}">
        <p14:creationId xmlns:p14="http://schemas.microsoft.com/office/powerpoint/2010/main" val="1136282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tory-role">
            <a:extLst>
              <a:ext uri="{FF2B5EF4-FFF2-40B4-BE49-F238E27FC236}">
                <a16:creationId xmlns:a16="http://schemas.microsoft.com/office/drawing/2014/main" id="{EB034B21-4E6A-4AF7-BA83-A1E75C168750}"/>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COMPLICATION</a:t>
            </a:r>
          </a:p>
        </p:txBody>
      </p:sp>
      <p:sp>
        <p:nvSpPr>
          <p:cNvPr id="2" name="Title Placeholder 1">
            <a:extLst>
              <a:ext uri="{FF2B5EF4-FFF2-40B4-BE49-F238E27FC236}">
                <a16:creationId xmlns:a16="http://schemas.microsoft.com/office/drawing/2014/main" id="{6A0320B3-F0D7-4EBB-BCA9-00D802E74308}"/>
              </a:ext>
            </a:extLst>
          </p:cNvPr>
          <p:cNvSpPr>
            <a:spLocks noGrp="1"/>
          </p:cNvSpPr>
          <p:nvPr>
            <p:ph type="title"/>
          </p:nvPr>
        </p:nvSpPr>
        <p:spPr>
          <a:xfrm>
            <a:off x="742950" y="457200"/>
            <a:ext cx="10706100" cy="1143000"/>
          </a:xfrm>
          <a:prstGeom prst="rect">
            <a:avLst/>
          </a:prstGeom>
        </p:spPr>
        <p:txBody>
          <a:bodyPr vert="horz" lIns="91440" tIns="45720" rIns="91440" bIns="45720" anchor="b">
            <a:normAutofit/>
          </a:bodyPr>
          <a:lstStyle/>
          <a:p>
            <a:pPr algn="l">
              <a:buNone/>
              <a:defRPr sz="3000">
                <a:solidFill>
                  <a:srgbClr val="373545"/>
                </a:solidFill>
              </a:defRPr>
            </a:pPr>
            <a:r>
              <a:rPr sz="3000">
                <a:solidFill>
                  <a:srgbClr val="373545"/>
                </a:solidFill>
              </a:rPr>
              <a:t>Transportation costs shifted across months while future disruptions remained difficult to anticipate at quote time.</a:t>
            </a:r>
            <a:endParaRPr/>
          </a:p>
        </p:txBody>
      </p:sp>
      <p:graphicFrame>
        <p:nvGraphicFramePr>
          <p:cNvPr id="22" name="Chart"/>
          <p:cNvGraphicFramePr/>
          <p:nvPr/>
        </p:nvGraphicFramePr>
        <p:xfrm>
          <a:off x="714375" y="2143125"/>
          <a:ext cx="752475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16" name="external-factors">
            <a:extLst>
              <a:ext uri="{FF2B5EF4-FFF2-40B4-BE49-F238E27FC236}">
                <a16:creationId xmlns:a16="http://schemas.microsoft.com/office/drawing/2014/main" id="{59F992FA-B480-48AA-BE8F-DB3DA252F1A9}"/>
              </a:ext>
            </a:extLst>
          </p:cNvPr>
          <p:cNvSpPr>
            <a:spLocks noGrp="1"/>
          </p:cNvSpPr>
          <p:nvPr/>
        </p:nvSpPr>
        <p:spPr>
          <a:xfrm>
            <a:off x="8620125" y="2143125"/>
            <a:ext cx="2857500" cy="3333750"/>
          </a:xfrm>
          <a:prstGeom prst="roundRect">
            <a:avLst>
              <a:gd name="adj" fmla="val 4000"/>
            </a:avLst>
          </a:prstGeom>
          <a:solidFill>
            <a:srgbClr val="FFF7E6"/>
          </a:solidFill>
          <a:ln w="9525">
            <a:solidFill>
              <a:srgbClr val="E9C46A"/>
            </a:solidFill>
            <a:prstDash val="solid"/>
          </a:ln>
        </p:spPr>
        <p:txBody>
          <a:bodyPr/>
          <a:lstStyle/>
          <a:p>
            <a:endParaRPr lang="en-US"/>
          </a:p>
        </p:txBody>
      </p:sp>
      <p:sp>
        <p:nvSpPr>
          <p:cNvPr id="17" name="text">
            <a:extLst>
              <a:ext uri="{FF2B5EF4-FFF2-40B4-BE49-F238E27FC236}">
                <a16:creationId xmlns:a16="http://schemas.microsoft.com/office/drawing/2014/main" id="{A22334EC-C81B-4358-BBB1-FEA03B9702E6}"/>
              </a:ext>
            </a:extLst>
          </p:cNvPr>
          <p:cNvSpPr>
            <a:spLocks noGrp="1"/>
          </p:cNvSpPr>
          <p:nvPr/>
        </p:nvSpPr>
        <p:spPr>
          <a:xfrm>
            <a:off x="8905875" y="2428875"/>
            <a:ext cx="2286000" cy="523875"/>
          </a:xfrm>
          <a:prstGeom prst="rect">
            <a:avLst/>
          </a:prstGeom>
          <a:noFill/>
          <a:ln w="0">
            <a:noFill/>
            <a:prstDash val="solid"/>
          </a:ln>
        </p:spPr>
        <p:txBody>
          <a:bodyPr/>
          <a:lstStyle/>
          <a:p>
            <a:pPr algn="ctr">
              <a:defRPr sz="1275" b="1">
                <a:solidFill>
                  <a:srgbClr val="9A6B00"/>
                </a:solidFill>
              </a:defRPr>
            </a:pPr>
            <a:r>
              <a:rPr sz="1275" b="1">
                <a:solidFill>
                  <a:srgbClr val="9A6B00"/>
                </a:solidFill>
              </a:rPr>
              <a:t>DIFFICULT TO KNOW IN ADVANCE</a:t>
            </a:r>
          </a:p>
        </p:txBody>
      </p:sp>
      <p:sp>
        <p:nvSpPr>
          <p:cNvPr id="18" name="text">
            <a:extLst>
              <a:ext uri="{FF2B5EF4-FFF2-40B4-BE49-F238E27FC236}">
                <a16:creationId xmlns:a16="http://schemas.microsoft.com/office/drawing/2014/main" id="{7AF9F67D-C479-498D-8D81-2B208586EEC6}"/>
              </a:ext>
            </a:extLst>
          </p:cNvPr>
          <p:cNvSpPr>
            <a:spLocks noGrp="1"/>
          </p:cNvSpPr>
          <p:nvPr/>
        </p:nvSpPr>
        <p:spPr>
          <a:xfrm>
            <a:off x="8953500" y="3190875"/>
            <a:ext cx="2190750" cy="1809750"/>
          </a:xfrm>
          <a:prstGeom prst="rect">
            <a:avLst/>
          </a:prstGeom>
          <a:noFill/>
          <a:ln w="0">
            <a:noFill/>
            <a:prstDash val="solid"/>
          </a:ln>
        </p:spPr>
        <p:txBody>
          <a:bodyPr/>
          <a:lstStyle/>
          <a:p>
            <a:pPr algn="ctr">
              <a:defRPr sz="1575">
                <a:solidFill>
                  <a:srgbClr val="373545"/>
                </a:solidFill>
              </a:defRPr>
            </a:pPr>
            <a:r>
              <a:rPr sz="1575">
                <a:solidFill>
                  <a:srgbClr val="373545"/>
                </a:solidFill>
              </a:rPr>
              <a:t>Carrier and fuel changes</a:t>
            </a:r>
          </a:p>
          <a:p>
            <a:pPr algn="ctr">
              <a:defRPr sz="1575">
                <a:solidFill>
                  <a:srgbClr val="373545"/>
                </a:solidFill>
              </a:defRPr>
            </a:pPr>
            <a:r>
              <a:rPr sz="1575">
                <a:solidFill>
                  <a:srgbClr val="373545"/>
                </a:solidFill>
              </a:rPr>
              <a:t>Capacity shortages</a:t>
            </a:r>
          </a:p>
          <a:p>
            <a:pPr algn="ctr">
              <a:defRPr sz="1575">
                <a:solidFill>
                  <a:srgbClr val="373545"/>
                </a:solidFill>
              </a:defRPr>
            </a:pPr>
            <a:r>
              <a:rPr sz="1575">
                <a:solidFill>
                  <a:srgbClr val="373545"/>
                </a:solidFill>
              </a:rPr>
              <a:t>Congestion and weather</a:t>
            </a:r>
          </a:p>
          <a:p>
            <a:pPr algn="ctr">
              <a:defRPr sz="1575">
                <a:solidFill>
                  <a:srgbClr val="373545"/>
                </a:solidFill>
              </a:defRPr>
            </a:pPr>
            <a:r>
              <a:rPr sz="1575">
                <a:solidFill>
                  <a:srgbClr val="373545"/>
                </a:solidFill>
              </a:rPr>
              <a:t>Route or handling changes</a:t>
            </a:r>
          </a:p>
          <a:p>
            <a:pPr algn="ctr">
              <a:defRPr sz="1575">
                <a:solidFill>
                  <a:srgbClr val="373545"/>
                </a:solidFill>
              </a:defRPr>
            </a:pPr>
            <a:r>
              <a:rPr sz="1575">
                <a:solidFill>
                  <a:srgbClr val="373545"/>
                </a:solidFill>
              </a:rPr>
              <a:t>Storage, detention, surcharges</a:t>
            </a:r>
          </a:p>
        </p:txBody>
      </p:sp>
      <p:sp>
        <p:nvSpPr>
          <p:cNvPr id="19" name="text">
            <a:extLst>
              <a:ext uri="{FF2B5EF4-FFF2-40B4-BE49-F238E27FC236}">
                <a16:creationId xmlns:a16="http://schemas.microsoft.com/office/drawing/2014/main" id="{DB4883C4-E84C-4A0E-AFE9-B9DC18836AF5}"/>
              </a:ext>
            </a:extLst>
          </p:cNvPr>
          <p:cNvSpPr>
            <a:spLocks noGrp="1"/>
          </p:cNvSpPr>
          <p:nvPr/>
        </p:nvSpPr>
        <p:spPr>
          <a:xfrm>
            <a:off x="1714500" y="5762625"/>
            <a:ext cx="8572500" cy="266700"/>
          </a:xfrm>
          <a:prstGeom prst="rect">
            <a:avLst/>
          </a:prstGeom>
          <a:noFill/>
          <a:ln w="0">
            <a:noFill/>
            <a:prstDash val="solid"/>
          </a:ln>
        </p:spPr>
        <p:txBody>
          <a:bodyPr/>
          <a:lstStyle/>
          <a:p>
            <a:pPr algn="ctr">
              <a:defRPr sz="1275" i="1">
                <a:solidFill>
                  <a:srgbClr val="6B7280"/>
                </a:solidFill>
              </a:defRPr>
            </a:pPr>
            <a:r>
              <a:rPr sz="1275" i="1">
                <a:solidFill>
                  <a:srgbClr val="6B7280"/>
                </a:solidFill>
              </a:rPr>
              <a:t>The trend shows variation—not the cause of each monthly change.</a:t>
            </a:r>
          </a:p>
        </p:txBody>
      </p:sp>
    </p:spTree>
    <p:extLst>
      <p:ext uri="{BB962C8B-B14F-4D97-AF65-F5344CB8AC3E}">
        <p14:creationId xmlns:p14="http://schemas.microsoft.com/office/powerpoint/2010/main" val="11723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One underquoted shipment shows how cost uncertainty can become unrecovered revenue.</a:t>
            </a:r>
          </a:p>
        </p:txBody>
      </p:sp>
      <p:sp>
        <p:nvSpPr>
          <p:cNvPr id="3" name="story-role">
            <a:extLst>
              <a:ext uri="{FF2B5EF4-FFF2-40B4-BE49-F238E27FC236}">
                <a16:creationId xmlns:a16="http://schemas.microsoft.com/office/drawing/2014/main" id="{060F1D7D-03DB-40B8-B4DD-5E85D8A8ECFA}"/>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COMPLICATION</a:t>
            </a:r>
          </a:p>
        </p:txBody>
      </p:sp>
      <p:pic>
        <p:nvPicPr>
          <p:cNvPr id="13" name="Picture 12"/>
          <p:cNvPicPr>
            <a:picLocks noChangeAspect="1"/>
          </p:cNvPicPr>
          <p:nvPr/>
        </p:nvPicPr>
        <p:blipFill>
          <a:blip r:embed="rId3"/>
          <a:stretch/>
        </p:blipFill>
        <p:spPr>
          <a:xfrm>
            <a:off x="732646" y="1924050"/>
            <a:ext cx="7145307" cy="4000500"/>
          </a:xfrm>
          <a:prstGeom prst="rect">
            <a:avLst/>
          </a:prstGeom>
        </p:spPr>
      </p:pic>
      <p:sp>
        <p:nvSpPr>
          <p:cNvPr id="5" name="case-consequence">
            <a:extLst>
              <a:ext uri="{FF2B5EF4-FFF2-40B4-BE49-F238E27FC236}">
                <a16:creationId xmlns:a16="http://schemas.microsoft.com/office/drawing/2014/main" id="{89EEC743-85DE-4DF8-93B3-629756E60C7D}"/>
              </a:ext>
            </a:extLst>
          </p:cNvPr>
          <p:cNvSpPr>
            <a:spLocks noGrp="1"/>
          </p:cNvSpPr>
          <p:nvPr/>
        </p:nvSpPr>
        <p:spPr>
          <a:xfrm>
            <a:off x="8286750" y="2095500"/>
            <a:ext cx="3048000" cy="3143250"/>
          </a:xfrm>
          <a:prstGeom prst="roundRect">
            <a:avLst>
              <a:gd name="adj" fmla="val 3750"/>
            </a:avLst>
          </a:prstGeom>
          <a:solidFill>
            <a:srgbClr val="FFF4F0"/>
          </a:solidFill>
          <a:ln w="9525">
            <a:solidFill>
              <a:srgbClr val="E76F51"/>
            </a:solidFill>
            <a:prstDash val="solid"/>
          </a:ln>
        </p:spPr>
        <p:txBody>
          <a:bodyPr/>
          <a:lstStyle/>
          <a:p>
            <a:endParaRPr lang="en-US"/>
          </a:p>
        </p:txBody>
      </p:sp>
      <p:sp>
        <p:nvSpPr>
          <p:cNvPr id="6" name="text">
            <a:extLst>
              <a:ext uri="{FF2B5EF4-FFF2-40B4-BE49-F238E27FC236}">
                <a16:creationId xmlns:a16="http://schemas.microsoft.com/office/drawing/2014/main" id="{DDAB2489-7ABC-4BA8-AAAD-541D8E5FC7D8}"/>
              </a:ext>
            </a:extLst>
          </p:cNvPr>
          <p:cNvSpPr>
            <a:spLocks noGrp="1"/>
          </p:cNvSpPr>
          <p:nvPr/>
        </p:nvSpPr>
        <p:spPr>
          <a:xfrm>
            <a:off x="8572500" y="2381250"/>
            <a:ext cx="2476500" cy="323850"/>
          </a:xfrm>
          <a:prstGeom prst="rect">
            <a:avLst/>
          </a:prstGeom>
          <a:noFill/>
          <a:ln w="0">
            <a:noFill/>
            <a:prstDash val="solid"/>
          </a:ln>
        </p:spPr>
        <p:txBody>
          <a:bodyPr/>
          <a:lstStyle/>
          <a:p>
            <a:pPr>
              <a:buNone/>
              <a:defRPr sz="1350" b="1">
                <a:solidFill>
                  <a:srgbClr val="E76F51"/>
                </a:solidFill>
              </a:defRPr>
            </a:pPr>
            <a:r>
              <a:rPr sz="1350" b="1">
                <a:solidFill>
                  <a:srgbClr val="E76F51"/>
                </a:solidFill>
              </a:rPr>
              <a:t>WHAT HAPPENED</a:t>
            </a:r>
          </a:p>
        </p:txBody>
      </p:sp>
      <p:sp>
        <p:nvSpPr>
          <p:cNvPr id="7" name="text">
            <a:extLst>
              <a:ext uri="{FF2B5EF4-FFF2-40B4-BE49-F238E27FC236}">
                <a16:creationId xmlns:a16="http://schemas.microsoft.com/office/drawing/2014/main" id="{0480D9FC-4D8B-4E3A-ACB1-385B9AEB0D6D}"/>
              </a:ext>
            </a:extLst>
          </p:cNvPr>
          <p:cNvSpPr>
            <a:spLocks noGrp="1"/>
          </p:cNvSpPr>
          <p:nvPr/>
        </p:nvSpPr>
        <p:spPr>
          <a:xfrm>
            <a:off x="8572500" y="2857500"/>
            <a:ext cx="2381250" cy="361950"/>
          </a:xfrm>
          <a:prstGeom prst="rect">
            <a:avLst/>
          </a:prstGeom>
          <a:noFill/>
          <a:ln w="0">
            <a:noFill/>
            <a:prstDash val="solid"/>
          </a:ln>
        </p:spPr>
        <p:txBody>
          <a:bodyPr/>
          <a:lstStyle/>
          <a:p>
            <a:pPr>
              <a:buNone/>
              <a:defRPr sz="2025" b="1">
                <a:solidFill>
                  <a:srgbClr val="373545"/>
                </a:solidFill>
              </a:defRPr>
            </a:pPr>
            <a:r>
              <a:rPr sz="2025" b="1">
                <a:solidFill>
                  <a:srgbClr val="373545"/>
                </a:solidFill>
              </a:rPr>
              <a:t>Quote too low</a:t>
            </a:r>
          </a:p>
        </p:txBody>
      </p:sp>
      <p:sp>
        <p:nvSpPr>
          <p:cNvPr id="8" name="text">
            <a:extLst>
              <a:ext uri="{FF2B5EF4-FFF2-40B4-BE49-F238E27FC236}">
                <a16:creationId xmlns:a16="http://schemas.microsoft.com/office/drawing/2014/main" id="{23B0D22F-EF4F-4612-A873-EED3A9FC302D}"/>
              </a:ext>
            </a:extLst>
          </p:cNvPr>
          <p:cNvSpPr>
            <a:spLocks noGrp="1"/>
          </p:cNvSpPr>
          <p:nvPr/>
        </p:nvSpPr>
        <p:spPr>
          <a:xfrm>
            <a:off x="8572500" y="3238500"/>
            <a:ext cx="2381250" cy="1714500"/>
          </a:xfrm>
          <a:prstGeom prst="rect">
            <a:avLst/>
          </a:prstGeom>
          <a:noFill/>
          <a:ln w="0">
            <a:noFill/>
            <a:prstDash val="solid"/>
          </a:ln>
        </p:spPr>
        <p:txBody>
          <a:bodyPr/>
          <a:lstStyle/>
          <a:p>
            <a:pPr algn="ctr">
              <a:buNone/>
              <a:defRPr sz="1575">
                <a:solidFill>
                  <a:srgbClr val="373545"/>
                </a:solidFill>
              </a:defRPr>
            </a:pPr>
            <a:r>
              <a:rPr sz="1575">
                <a:solidFill>
                  <a:srgbClr val="373545"/>
                </a:solidFill>
              </a:rPr>
              <a:t>↓</a:t>
            </a:r>
          </a:p>
          <a:p>
            <a:pPr algn="ctr">
              <a:buNone/>
              <a:defRPr sz="1575">
                <a:solidFill>
                  <a:srgbClr val="373545"/>
                </a:solidFill>
              </a:defRPr>
            </a:pPr>
            <a:r>
              <a:rPr sz="1575">
                <a:solidFill>
                  <a:srgbClr val="373545"/>
                </a:solidFill>
              </a:rPr>
              <a:t>Final cost was higher</a:t>
            </a:r>
          </a:p>
          <a:p>
            <a:pPr algn="ctr">
              <a:buNone/>
              <a:defRPr sz="1575">
                <a:solidFill>
                  <a:srgbClr val="373545"/>
                </a:solidFill>
              </a:defRPr>
            </a:pPr>
            <a:r>
              <a:rPr sz="1575">
                <a:solidFill>
                  <a:srgbClr val="373545"/>
                </a:solidFill>
              </a:rPr>
              <a:t>↓</a:t>
            </a:r>
          </a:p>
          <a:p>
            <a:pPr algn="ctr">
              <a:buNone/>
              <a:defRPr sz="1575">
                <a:solidFill>
                  <a:srgbClr val="373545"/>
                </a:solidFill>
              </a:defRPr>
            </a:pPr>
            <a:r>
              <a:rPr sz="1575">
                <a:solidFill>
                  <a:srgbClr val="373545"/>
                </a:solidFill>
              </a:rPr>
              <a:t>Customer declined the adjustment</a:t>
            </a:r>
          </a:p>
          <a:p>
            <a:pPr algn="ctr">
              <a:buNone/>
              <a:defRPr sz="1575">
                <a:solidFill>
                  <a:srgbClr val="373545"/>
                </a:solidFill>
              </a:defRPr>
            </a:pPr>
            <a:r>
              <a:rPr sz="1575">
                <a:solidFill>
                  <a:srgbClr val="373545"/>
                </a:solidFill>
              </a:rPr>
              <a:t>↓</a:t>
            </a:r>
          </a:p>
          <a:p>
            <a:pPr algn="ctr">
              <a:buNone/>
              <a:defRPr sz="1575">
                <a:solidFill>
                  <a:srgbClr val="373545"/>
                </a:solidFill>
              </a:defRPr>
            </a:pPr>
            <a:r>
              <a:rPr sz="1575">
                <a:solidFill>
                  <a:srgbClr val="373545"/>
                </a:solidFill>
              </a:rPr>
              <a:t>Revenue was not recovered</a:t>
            </a:r>
          </a:p>
        </p:txBody>
      </p:sp>
      <p:sp>
        <p:nvSpPr>
          <p:cNvPr id="9" name="text">
            <a:extLst>
              <a:ext uri="{FF2B5EF4-FFF2-40B4-BE49-F238E27FC236}">
                <a16:creationId xmlns:a16="http://schemas.microsoft.com/office/drawing/2014/main" id="{FBC847BB-C28D-4FE9-8886-4B8E091C6A1F}"/>
              </a:ext>
            </a:extLst>
          </p:cNvPr>
          <p:cNvSpPr>
            <a:spLocks noGrp="1"/>
          </p:cNvSpPr>
          <p:nvPr/>
        </p:nvSpPr>
        <p:spPr>
          <a:xfrm>
            <a:off x="781050" y="5905500"/>
            <a:ext cx="10287000" cy="266700"/>
          </a:xfrm>
          <a:prstGeom prst="rect">
            <a:avLst/>
          </a:prstGeom>
          <a:noFill/>
          <a:ln w="0">
            <a:noFill/>
            <a:prstDash val="solid"/>
          </a:ln>
        </p:spPr>
        <p:txBody>
          <a:bodyPr/>
          <a:lstStyle/>
          <a:p>
            <a:pPr>
              <a:buNone/>
              <a:defRPr sz="1125" i="1">
                <a:solidFill>
                  <a:srgbClr val="6B7280"/>
                </a:solidFill>
              </a:defRPr>
            </a:pPr>
            <a:r>
              <a:rPr sz="1125" i="1">
                <a:solidFill>
                  <a:srgbClr val="6B7280"/>
                </a:solidFill>
              </a:rPr>
              <a:t>The screenshot is evidence of the billing context; the loss amount is not estimated here.</a:t>
            </a:r>
          </a:p>
        </p:txBody>
      </p:sp>
    </p:spTree>
    <p:extLst>
      <p:ext uri="{BB962C8B-B14F-4D97-AF65-F5344CB8AC3E}">
        <p14:creationId xmlns:p14="http://schemas.microsoft.com/office/powerpoint/2010/main" val="162131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The tool turns quote-time shipment details into an estimated final cost and a transparent range.</a:t>
            </a:r>
          </a:p>
        </p:txBody>
      </p:sp>
      <p:sp>
        <p:nvSpPr>
          <p:cNvPr id="3" name="story-role">
            <a:extLst>
              <a:ext uri="{FF2B5EF4-FFF2-40B4-BE49-F238E27FC236}">
                <a16:creationId xmlns:a16="http://schemas.microsoft.com/office/drawing/2014/main" id="{D15A6218-03D4-4662-9EC0-D468E11DD9A4}"/>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RESOLUTION</a:t>
            </a:r>
          </a:p>
        </p:txBody>
      </p:sp>
      <p:sp>
        <p:nvSpPr>
          <p:cNvPr id="4" name="tool-arrow-1">
            <a:extLst>
              <a:ext uri="{FF2B5EF4-FFF2-40B4-BE49-F238E27FC236}">
                <a16:creationId xmlns:a16="http://schemas.microsoft.com/office/drawing/2014/main" id="{EB4FF47B-E270-40E1-BE5D-18E70E41CEBF}"/>
              </a:ext>
            </a:extLst>
          </p:cNvPr>
          <p:cNvSpPr>
            <a:spLocks noGrp="1"/>
          </p:cNvSpPr>
          <p:nvPr/>
        </p:nvSpPr>
        <p:spPr>
          <a:xfrm>
            <a:off x="3619500" y="3333750"/>
            <a:ext cx="1095375" cy="457200"/>
          </a:xfrm>
          <a:prstGeom prst="rightArrow">
            <a:avLst/>
          </a:prstGeom>
          <a:solidFill>
            <a:srgbClr val="EAF3F5"/>
          </a:solidFill>
          <a:ln w="9525">
            <a:solidFill>
              <a:srgbClr val="58B6C0"/>
            </a:solidFill>
            <a:prstDash val="solid"/>
          </a:ln>
        </p:spPr>
        <p:txBody>
          <a:bodyPr/>
          <a:lstStyle/>
          <a:p>
            <a:endParaRPr lang="en-US"/>
          </a:p>
        </p:txBody>
      </p:sp>
      <p:sp>
        <p:nvSpPr>
          <p:cNvPr id="5" name="tool-arrow-2">
            <a:extLst>
              <a:ext uri="{FF2B5EF4-FFF2-40B4-BE49-F238E27FC236}">
                <a16:creationId xmlns:a16="http://schemas.microsoft.com/office/drawing/2014/main" id="{508EE191-6DC4-436F-8431-B534F9482481}"/>
              </a:ext>
            </a:extLst>
          </p:cNvPr>
          <p:cNvSpPr>
            <a:spLocks noGrp="1"/>
          </p:cNvSpPr>
          <p:nvPr/>
        </p:nvSpPr>
        <p:spPr>
          <a:xfrm>
            <a:off x="7524750" y="3333750"/>
            <a:ext cx="1095375" cy="457200"/>
          </a:xfrm>
          <a:prstGeom prst="rightArrow">
            <a:avLst/>
          </a:prstGeom>
          <a:solidFill>
            <a:srgbClr val="EAF3F5"/>
          </a:solidFill>
          <a:ln w="9525">
            <a:solidFill>
              <a:srgbClr val="58B6C0"/>
            </a:solidFill>
            <a:prstDash val="solid"/>
          </a:ln>
        </p:spPr>
        <p:txBody>
          <a:bodyPr/>
          <a:lstStyle/>
          <a:p>
            <a:endParaRPr lang="en-US"/>
          </a:p>
        </p:txBody>
      </p:sp>
      <p:sp>
        <p:nvSpPr>
          <p:cNvPr id="6" name="tool-inputs">
            <a:extLst>
              <a:ext uri="{FF2B5EF4-FFF2-40B4-BE49-F238E27FC236}">
                <a16:creationId xmlns:a16="http://schemas.microsoft.com/office/drawing/2014/main" id="{4D6760EC-6781-4C47-94F0-54174B94D4CE}"/>
              </a:ext>
            </a:extLst>
          </p:cNvPr>
          <p:cNvSpPr>
            <a:spLocks noGrp="1"/>
          </p:cNvSpPr>
          <p:nvPr/>
        </p:nvSpPr>
        <p:spPr>
          <a:xfrm>
            <a:off x="742950" y="2143125"/>
            <a:ext cx="3143250" cy="2857500"/>
          </a:xfrm>
          <a:prstGeom prst="roundRect">
            <a:avLst>
              <a:gd name="adj" fmla="val 4000"/>
            </a:avLst>
          </a:prstGeom>
          <a:solidFill>
            <a:srgbClr val="F5F8FA"/>
          </a:solidFill>
          <a:ln w="9525">
            <a:solidFill>
              <a:srgbClr val="58B6C0"/>
            </a:solidFill>
            <a:prstDash val="solid"/>
          </a:ln>
        </p:spPr>
        <p:txBody>
          <a:bodyPr/>
          <a:lstStyle/>
          <a:p>
            <a:endParaRPr lang="en-US"/>
          </a:p>
        </p:txBody>
      </p:sp>
      <p:sp>
        <p:nvSpPr>
          <p:cNvPr id="7" name="text">
            <a:extLst>
              <a:ext uri="{FF2B5EF4-FFF2-40B4-BE49-F238E27FC236}">
                <a16:creationId xmlns:a16="http://schemas.microsoft.com/office/drawing/2014/main" id="{86B7F4F7-FD76-4A30-84BC-55DE739DB265}"/>
              </a:ext>
            </a:extLst>
          </p:cNvPr>
          <p:cNvSpPr>
            <a:spLocks noGrp="1"/>
          </p:cNvSpPr>
          <p:nvPr/>
        </p:nvSpPr>
        <p:spPr>
          <a:xfrm>
            <a:off x="1047750" y="2457450"/>
            <a:ext cx="2571750" cy="323850"/>
          </a:xfrm>
          <a:prstGeom prst="rect">
            <a:avLst/>
          </a:prstGeom>
          <a:noFill/>
          <a:ln w="0">
            <a:noFill/>
            <a:prstDash val="solid"/>
          </a:ln>
        </p:spPr>
        <p:txBody>
          <a:bodyPr/>
          <a:lstStyle/>
          <a:p>
            <a:pPr>
              <a:buNone/>
              <a:defRPr sz="1350" b="1">
                <a:solidFill>
                  <a:srgbClr val="3494BA"/>
                </a:solidFill>
              </a:defRPr>
            </a:pPr>
            <a:r>
              <a:rPr sz="1350" b="1">
                <a:solidFill>
                  <a:srgbClr val="3494BA"/>
                </a:solidFill>
              </a:rPr>
              <a:t>BROKER INPUTS</a:t>
            </a:r>
          </a:p>
        </p:txBody>
      </p:sp>
      <p:sp>
        <p:nvSpPr>
          <p:cNvPr id="8" name="text">
            <a:extLst>
              <a:ext uri="{FF2B5EF4-FFF2-40B4-BE49-F238E27FC236}">
                <a16:creationId xmlns:a16="http://schemas.microsoft.com/office/drawing/2014/main" id="{0410100C-9380-457A-AC67-59498EDAD5C4}"/>
              </a:ext>
            </a:extLst>
          </p:cNvPr>
          <p:cNvSpPr>
            <a:spLocks noGrp="1"/>
          </p:cNvSpPr>
          <p:nvPr/>
        </p:nvSpPr>
        <p:spPr>
          <a:xfrm>
            <a:off x="1047750" y="2952750"/>
            <a:ext cx="2571750" cy="1714500"/>
          </a:xfrm>
          <a:prstGeom prst="rect">
            <a:avLst/>
          </a:prstGeom>
          <a:noFill/>
          <a:ln w="0">
            <a:noFill/>
            <a:prstDash val="solid"/>
          </a:ln>
        </p:spPr>
        <p:txBody>
          <a:bodyPr/>
          <a:lstStyle/>
          <a:p>
            <a:pPr>
              <a:buNone/>
              <a:defRPr sz="1725">
                <a:solidFill>
                  <a:srgbClr val="373545"/>
                </a:solidFill>
              </a:defRPr>
            </a:pPr>
            <a:r>
              <a:rPr sz="1725">
                <a:solidFill>
                  <a:srgbClr val="373545"/>
                </a:solidFill>
              </a:rPr>
              <a:t>Transport type</a:t>
            </a:r>
          </a:p>
          <a:p>
            <a:pPr>
              <a:buNone/>
              <a:defRPr sz="1725">
                <a:solidFill>
                  <a:srgbClr val="373545"/>
                </a:solidFill>
              </a:defRPr>
            </a:pPr>
            <a:r>
              <a:rPr sz="1725">
                <a:solidFill>
                  <a:srgbClr val="373545"/>
                </a:solidFill>
              </a:rPr>
              <a:t>Mode and branch</a:t>
            </a:r>
          </a:p>
          <a:p>
            <a:pPr>
              <a:buNone/>
              <a:defRPr sz="1725">
                <a:solidFill>
                  <a:srgbClr val="373545"/>
                </a:solidFill>
              </a:defRPr>
            </a:pPr>
            <a:r>
              <a:rPr sz="1725">
                <a:solidFill>
                  <a:srgbClr val="373545"/>
                </a:solidFill>
              </a:rPr>
              <a:t>Origin and destination</a:t>
            </a:r>
          </a:p>
          <a:p>
            <a:pPr>
              <a:buNone/>
              <a:defRPr sz="1725">
                <a:solidFill>
                  <a:srgbClr val="373545"/>
                </a:solidFill>
              </a:defRPr>
            </a:pPr>
            <a:r>
              <a:rPr sz="1725">
                <a:solidFill>
                  <a:srgbClr val="373545"/>
                </a:solidFill>
              </a:rPr>
              <a:t>Weight, volume, containers</a:t>
            </a:r>
          </a:p>
          <a:p>
            <a:pPr>
              <a:buNone/>
              <a:defRPr sz="1725">
                <a:solidFill>
                  <a:srgbClr val="373545"/>
                </a:solidFill>
              </a:defRPr>
            </a:pPr>
            <a:r>
              <a:rPr sz="1725">
                <a:solidFill>
                  <a:srgbClr val="373545"/>
                </a:solidFill>
              </a:rPr>
              <a:t>Quote date</a:t>
            </a:r>
          </a:p>
        </p:txBody>
      </p:sp>
      <p:sp>
        <p:nvSpPr>
          <p:cNvPr id="9" name="tool-engine">
            <a:extLst>
              <a:ext uri="{FF2B5EF4-FFF2-40B4-BE49-F238E27FC236}">
                <a16:creationId xmlns:a16="http://schemas.microsoft.com/office/drawing/2014/main" id="{3E55A0B4-3C86-4D34-B9CA-2CEC8531559D}"/>
              </a:ext>
            </a:extLst>
          </p:cNvPr>
          <p:cNvSpPr>
            <a:spLocks noGrp="1"/>
          </p:cNvSpPr>
          <p:nvPr/>
        </p:nvSpPr>
        <p:spPr>
          <a:xfrm>
            <a:off x="4629150" y="2476500"/>
            <a:ext cx="3048000" cy="2190750"/>
          </a:xfrm>
          <a:prstGeom prst="roundRect">
            <a:avLst>
              <a:gd name="adj" fmla="val 5217"/>
            </a:avLst>
          </a:prstGeom>
          <a:solidFill>
            <a:srgbClr val="EAF3F5"/>
          </a:solidFill>
          <a:ln w="9525">
            <a:solidFill>
              <a:srgbClr val="3494BA"/>
            </a:solidFill>
            <a:prstDash val="solid"/>
          </a:ln>
        </p:spPr>
        <p:txBody>
          <a:bodyPr/>
          <a:lstStyle/>
          <a:p>
            <a:endParaRPr lang="en-US"/>
          </a:p>
        </p:txBody>
      </p:sp>
      <p:sp>
        <p:nvSpPr>
          <p:cNvPr id="10" name="text">
            <a:extLst>
              <a:ext uri="{FF2B5EF4-FFF2-40B4-BE49-F238E27FC236}">
                <a16:creationId xmlns:a16="http://schemas.microsoft.com/office/drawing/2014/main" id="{2A202E5F-11A5-4D55-8DDD-7E8DEC6B7C56}"/>
              </a:ext>
            </a:extLst>
          </p:cNvPr>
          <p:cNvSpPr>
            <a:spLocks noGrp="1"/>
          </p:cNvSpPr>
          <p:nvPr/>
        </p:nvSpPr>
        <p:spPr>
          <a:xfrm>
            <a:off x="4953000" y="2857500"/>
            <a:ext cx="2400300" cy="419100"/>
          </a:xfrm>
          <a:prstGeom prst="rect">
            <a:avLst/>
          </a:prstGeom>
          <a:noFill/>
          <a:ln w="0">
            <a:noFill/>
            <a:prstDash val="solid"/>
          </a:ln>
        </p:spPr>
        <p:txBody>
          <a:bodyPr/>
          <a:lstStyle/>
          <a:p>
            <a:pPr algn="ctr">
              <a:buNone/>
              <a:defRPr sz="1500" b="1">
                <a:solidFill>
                  <a:srgbClr val="173F5F"/>
                </a:solidFill>
              </a:defRPr>
            </a:pPr>
            <a:r>
              <a:rPr sz="1500" b="1">
                <a:solidFill>
                  <a:srgbClr val="173F5F"/>
                </a:solidFill>
              </a:rPr>
              <a:t>HISTORICAL COST PATTERNS</a:t>
            </a:r>
          </a:p>
        </p:txBody>
      </p:sp>
      <p:sp>
        <p:nvSpPr>
          <p:cNvPr id="11" name="text">
            <a:extLst>
              <a:ext uri="{FF2B5EF4-FFF2-40B4-BE49-F238E27FC236}">
                <a16:creationId xmlns:a16="http://schemas.microsoft.com/office/drawing/2014/main" id="{4C63B737-AFC1-4011-BF15-C20DDBA894E9}"/>
              </a:ext>
            </a:extLst>
          </p:cNvPr>
          <p:cNvSpPr>
            <a:spLocks noGrp="1"/>
          </p:cNvSpPr>
          <p:nvPr/>
        </p:nvSpPr>
        <p:spPr>
          <a:xfrm>
            <a:off x="4953000" y="3476625"/>
            <a:ext cx="2400300" cy="819150"/>
          </a:xfrm>
          <a:prstGeom prst="rect">
            <a:avLst/>
          </a:prstGeom>
          <a:noFill/>
          <a:ln w="0">
            <a:noFill/>
            <a:prstDash val="solid"/>
          </a:ln>
        </p:spPr>
        <p:txBody>
          <a:bodyPr/>
          <a:lstStyle/>
          <a:p>
            <a:pPr algn="ctr">
              <a:buNone/>
              <a:defRPr sz="1575">
                <a:solidFill>
                  <a:srgbClr val="6B7280"/>
                </a:solidFill>
              </a:defRPr>
            </a:pPr>
            <a:r>
              <a:rPr sz="1575">
                <a:solidFill>
                  <a:srgbClr val="6B7280"/>
                </a:solidFill>
              </a:rPr>
              <a:t>Uses historical shipment patterns</a:t>
            </a:r>
          </a:p>
          <a:p>
            <a:pPr algn="ctr">
              <a:buNone/>
              <a:defRPr sz="1575">
                <a:solidFill>
                  <a:srgbClr val="6B7280"/>
                </a:solidFill>
              </a:defRPr>
            </a:pPr>
            <a:r>
              <a:rPr sz="1575">
                <a:solidFill>
                  <a:srgbClr val="6B7280"/>
                </a:solidFill>
              </a:rPr>
              <a:t>without exposing model details to the broker</a:t>
            </a:r>
          </a:p>
        </p:txBody>
      </p:sp>
      <p:sp>
        <p:nvSpPr>
          <p:cNvPr id="12" name="tool-output">
            <a:extLst>
              <a:ext uri="{FF2B5EF4-FFF2-40B4-BE49-F238E27FC236}">
                <a16:creationId xmlns:a16="http://schemas.microsoft.com/office/drawing/2014/main" id="{6729921E-EF8A-4BAE-B9DB-8980007EA381}"/>
              </a:ext>
            </a:extLst>
          </p:cNvPr>
          <p:cNvSpPr>
            <a:spLocks noGrp="1"/>
          </p:cNvSpPr>
          <p:nvPr/>
        </p:nvSpPr>
        <p:spPr>
          <a:xfrm>
            <a:off x="8524875" y="2143125"/>
            <a:ext cx="2952750" cy="2857500"/>
          </a:xfrm>
          <a:prstGeom prst="roundRect">
            <a:avLst>
              <a:gd name="adj" fmla="val 4000"/>
            </a:avLst>
          </a:prstGeom>
          <a:solidFill>
            <a:srgbClr val="EAF7F3"/>
          </a:solidFill>
          <a:ln w="9525">
            <a:solidFill>
              <a:srgbClr val="2A9D8F"/>
            </a:solidFill>
            <a:prstDash val="solid"/>
          </a:ln>
        </p:spPr>
        <p:txBody>
          <a:bodyPr/>
          <a:lstStyle/>
          <a:p>
            <a:endParaRPr lang="en-US"/>
          </a:p>
        </p:txBody>
      </p:sp>
      <p:sp>
        <p:nvSpPr>
          <p:cNvPr id="13" name="text">
            <a:extLst>
              <a:ext uri="{FF2B5EF4-FFF2-40B4-BE49-F238E27FC236}">
                <a16:creationId xmlns:a16="http://schemas.microsoft.com/office/drawing/2014/main" id="{C8B50EE7-7095-4675-9B7C-8B7FD683062C}"/>
              </a:ext>
            </a:extLst>
          </p:cNvPr>
          <p:cNvSpPr>
            <a:spLocks noGrp="1"/>
          </p:cNvSpPr>
          <p:nvPr/>
        </p:nvSpPr>
        <p:spPr>
          <a:xfrm>
            <a:off x="8858250" y="2457450"/>
            <a:ext cx="2286000" cy="323850"/>
          </a:xfrm>
          <a:prstGeom prst="rect">
            <a:avLst/>
          </a:prstGeom>
          <a:noFill/>
          <a:ln w="0">
            <a:noFill/>
            <a:prstDash val="solid"/>
          </a:ln>
        </p:spPr>
        <p:txBody>
          <a:bodyPr/>
          <a:lstStyle/>
          <a:p>
            <a:pPr algn="ctr">
              <a:buNone/>
              <a:defRPr sz="1350" b="1">
                <a:solidFill>
                  <a:srgbClr val="2A9D8F"/>
                </a:solidFill>
              </a:defRPr>
            </a:pPr>
            <a:r>
              <a:rPr sz="1350" b="1">
                <a:solidFill>
                  <a:srgbClr val="2A9D8F"/>
                </a:solidFill>
              </a:rPr>
              <a:t>QUOTE SUPPORT</a:t>
            </a:r>
          </a:p>
        </p:txBody>
      </p:sp>
      <p:sp>
        <p:nvSpPr>
          <p:cNvPr id="14" name="text">
            <a:extLst>
              <a:ext uri="{FF2B5EF4-FFF2-40B4-BE49-F238E27FC236}">
                <a16:creationId xmlns:a16="http://schemas.microsoft.com/office/drawing/2014/main" id="{875899AA-99A6-4E5F-9D90-0F6E62A70501}"/>
              </a:ext>
            </a:extLst>
          </p:cNvPr>
          <p:cNvSpPr>
            <a:spLocks noGrp="1"/>
          </p:cNvSpPr>
          <p:nvPr/>
        </p:nvSpPr>
        <p:spPr>
          <a:xfrm>
            <a:off x="8858250" y="3143250"/>
            <a:ext cx="2286000" cy="400050"/>
          </a:xfrm>
          <a:prstGeom prst="rect">
            <a:avLst/>
          </a:prstGeom>
          <a:noFill/>
          <a:ln w="0">
            <a:noFill/>
            <a:prstDash val="solid"/>
          </a:ln>
        </p:spPr>
        <p:txBody>
          <a:bodyPr/>
          <a:lstStyle/>
          <a:p>
            <a:pPr algn="ctr">
              <a:buNone/>
              <a:defRPr sz="2175" b="1">
                <a:solidFill>
                  <a:srgbClr val="173F5F"/>
                </a:solidFill>
              </a:defRPr>
            </a:pPr>
            <a:r>
              <a:rPr sz="2175" b="1">
                <a:solidFill>
                  <a:srgbClr val="173F5F"/>
                </a:solidFill>
              </a:rPr>
              <a:t>Estimated cost</a:t>
            </a:r>
          </a:p>
        </p:txBody>
      </p:sp>
      <p:sp>
        <p:nvSpPr>
          <p:cNvPr id="15" name="text">
            <a:extLst>
              <a:ext uri="{FF2B5EF4-FFF2-40B4-BE49-F238E27FC236}">
                <a16:creationId xmlns:a16="http://schemas.microsoft.com/office/drawing/2014/main" id="{84D953E7-3FAD-4216-A975-D94F1CDE3B6C}"/>
              </a:ext>
            </a:extLst>
          </p:cNvPr>
          <p:cNvSpPr>
            <a:spLocks noGrp="1"/>
          </p:cNvSpPr>
          <p:nvPr/>
        </p:nvSpPr>
        <p:spPr>
          <a:xfrm>
            <a:off x="8858250" y="3762375"/>
            <a:ext cx="2286000" cy="619125"/>
          </a:xfrm>
          <a:prstGeom prst="rect">
            <a:avLst/>
          </a:prstGeom>
          <a:noFill/>
          <a:ln w="0">
            <a:noFill/>
            <a:prstDash val="solid"/>
          </a:ln>
        </p:spPr>
        <p:txBody>
          <a:bodyPr/>
          <a:lstStyle/>
          <a:p>
            <a:pPr algn="ctr">
              <a:buNone/>
              <a:defRPr sz="1800" b="1">
                <a:solidFill>
                  <a:srgbClr val="2A9D8F"/>
                </a:solidFill>
              </a:defRPr>
            </a:pPr>
            <a:r>
              <a:rPr sz="1800" b="1">
                <a:solidFill>
                  <a:srgbClr val="2A9D8F"/>
                </a:solidFill>
              </a:rPr>
              <a:t>Suggested low – high range</a:t>
            </a:r>
          </a:p>
        </p:txBody>
      </p:sp>
      <p:sp>
        <p:nvSpPr>
          <p:cNvPr id="16" name="text">
            <a:extLst>
              <a:ext uri="{FF2B5EF4-FFF2-40B4-BE49-F238E27FC236}">
                <a16:creationId xmlns:a16="http://schemas.microsoft.com/office/drawing/2014/main" id="{25A3F2DA-8786-46E7-8708-24E11815B79F}"/>
              </a:ext>
            </a:extLst>
          </p:cNvPr>
          <p:cNvSpPr>
            <a:spLocks noGrp="1"/>
          </p:cNvSpPr>
          <p:nvPr/>
        </p:nvSpPr>
        <p:spPr>
          <a:xfrm>
            <a:off x="1952625" y="5410200"/>
            <a:ext cx="8286750" cy="400050"/>
          </a:xfrm>
          <a:prstGeom prst="rect">
            <a:avLst/>
          </a:prstGeom>
          <a:noFill/>
          <a:ln w="0">
            <a:noFill/>
            <a:prstDash val="solid"/>
          </a:ln>
        </p:spPr>
        <p:txBody>
          <a:bodyPr/>
          <a:lstStyle/>
          <a:p>
            <a:pPr algn="ctr">
              <a:buNone/>
              <a:defRPr sz="1725" b="1">
                <a:solidFill>
                  <a:srgbClr val="373545"/>
                </a:solidFill>
              </a:defRPr>
            </a:pPr>
            <a:r>
              <a:rPr sz="1725" b="1">
                <a:solidFill>
                  <a:srgbClr val="373545"/>
                </a:solidFill>
              </a:rPr>
              <a:t>Live prototype: a broker opens one local form and receives the estimate in seconds.</a:t>
            </a:r>
          </a:p>
        </p:txBody>
      </p:sp>
    </p:spTree>
    <p:extLst>
      <p:ext uri="{BB962C8B-B14F-4D97-AF65-F5344CB8AC3E}">
        <p14:creationId xmlns:p14="http://schemas.microsoft.com/office/powerpoint/2010/main" val="1621312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The range captured 89.3% of future costs, but uncommon shipments still require broker judgment.</a:t>
            </a:r>
          </a:p>
        </p:txBody>
      </p:sp>
      <p:sp>
        <p:nvSpPr>
          <p:cNvPr id="3" name="story-role">
            <a:extLst>
              <a:ext uri="{FF2B5EF4-FFF2-40B4-BE49-F238E27FC236}">
                <a16:creationId xmlns:a16="http://schemas.microsoft.com/office/drawing/2014/main" id="{2B9B4EF4-1F92-448B-8E14-55AA93D14621}"/>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RESOLUTION</a:t>
            </a:r>
          </a:p>
        </p:txBody>
      </p:sp>
      <p:graphicFrame>
        <p:nvGraphicFramePr>
          <p:cNvPr id="15" name="Chart"/>
          <p:cNvGraphicFramePr/>
          <p:nvPr/>
        </p:nvGraphicFramePr>
        <p:xfrm>
          <a:off x="1095375" y="1952625"/>
          <a:ext cx="42862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a:extLst>
              <a:ext uri="{FF2B5EF4-FFF2-40B4-BE49-F238E27FC236}">
                <a16:creationId xmlns:a16="http://schemas.microsoft.com/office/drawing/2014/main" id="{19DAD8A3-EA6A-4EB4-ACC2-A446F5EE03DF}"/>
              </a:ext>
            </a:extLst>
          </p:cNvPr>
          <p:cNvSpPr>
            <a:spLocks noGrp="1"/>
          </p:cNvSpPr>
          <p:nvPr/>
        </p:nvSpPr>
        <p:spPr>
          <a:xfrm>
            <a:off x="2095500" y="3190875"/>
            <a:ext cx="2286000" cy="704850"/>
          </a:xfrm>
          <a:prstGeom prst="rect">
            <a:avLst/>
          </a:prstGeom>
          <a:noFill/>
          <a:ln w="0">
            <a:noFill/>
            <a:prstDash val="solid"/>
          </a:ln>
        </p:spPr>
        <p:txBody>
          <a:bodyPr/>
          <a:lstStyle/>
          <a:p>
            <a:pPr algn="ctr">
              <a:buNone/>
              <a:defRPr sz="3900" b="1">
                <a:solidFill>
                  <a:srgbClr val="2A9D8F"/>
                </a:solidFill>
              </a:defRPr>
            </a:pPr>
            <a:r>
              <a:rPr sz="3900" b="1">
                <a:solidFill>
                  <a:srgbClr val="2A9D8F"/>
                </a:solidFill>
              </a:rPr>
              <a:t>89.3%</a:t>
            </a:r>
          </a:p>
        </p:txBody>
      </p:sp>
      <p:sp>
        <p:nvSpPr>
          <p:cNvPr id="6" name="text">
            <a:extLst>
              <a:ext uri="{FF2B5EF4-FFF2-40B4-BE49-F238E27FC236}">
                <a16:creationId xmlns:a16="http://schemas.microsoft.com/office/drawing/2014/main" id="{DA3E34F0-5974-47E2-9094-2CB35C431222}"/>
              </a:ext>
            </a:extLst>
          </p:cNvPr>
          <p:cNvSpPr>
            <a:spLocks noGrp="1"/>
          </p:cNvSpPr>
          <p:nvPr/>
        </p:nvSpPr>
        <p:spPr>
          <a:xfrm>
            <a:off x="2095500" y="3857625"/>
            <a:ext cx="2286000" cy="323850"/>
          </a:xfrm>
          <a:prstGeom prst="rect">
            <a:avLst/>
          </a:prstGeom>
          <a:noFill/>
          <a:ln w="0">
            <a:noFill/>
            <a:prstDash val="solid"/>
          </a:ln>
        </p:spPr>
        <p:txBody>
          <a:bodyPr/>
          <a:lstStyle/>
          <a:p>
            <a:pPr algn="ctr">
              <a:buNone/>
              <a:defRPr sz="1500">
                <a:solidFill>
                  <a:srgbClr val="6B7280"/>
                </a:solidFill>
              </a:defRPr>
            </a:pPr>
            <a:r>
              <a:rPr sz="1500">
                <a:solidFill>
                  <a:srgbClr val="6B7280"/>
                </a:solidFill>
              </a:rPr>
              <a:t>observed coverage</a:t>
            </a:r>
          </a:p>
        </p:txBody>
      </p:sp>
      <p:sp>
        <p:nvSpPr>
          <p:cNvPr id="7" name="text">
            <a:extLst>
              <a:ext uri="{FF2B5EF4-FFF2-40B4-BE49-F238E27FC236}">
                <a16:creationId xmlns:a16="http://schemas.microsoft.com/office/drawing/2014/main" id="{A0B2F6B8-86FE-4633-AAE6-01AEBB3E96A8}"/>
              </a:ext>
            </a:extLst>
          </p:cNvPr>
          <p:cNvSpPr>
            <a:spLocks noGrp="1"/>
          </p:cNvSpPr>
          <p:nvPr/>
        </p:nvSpPr>
        <p:spPr>
          <a:xfrm>
            <a:off x="6334125" y="2266950"/>
            <a:ext cx="1714500" cy="266700"/>
          </a:xfrm>
          <a:prstGeom prst="rect">
            <a:avLst/>
          </a:prstGeom>
          <a:noFill/>
          <a:ln w="0">
            <a:noFill/>
            <a:prstDash val="solid"/>
          </a:ln>
        </p:spPr>
        <p:txBody>
          <a:bodyPr/>
          <a:lstStyle/>
          <a:p>
            <a:pPr>
              <a:buNone/>
              <a:defRPr sz="1200" b="1">
                <a:solidFill>
                  <a:srgbClr val="3494BA"/>
                </a:solidFill>
              </a:defRPr>
            </a:pPr>
            <a:r>
              <a:rPr sz="1200" b="1">
                <a:solidFill>
                  <a:srgbClr val="3494BA"/>
                </a:solidFill>
              </a:rPr>
              <a:t>TARGET</a:t>
            </a:r>
          </a:p>
        </p:txBody>
      </p:sp>
      <p:sp>
        <p:nvSpPr>
          <p:cNvPr id="8" name="text">
            <a:extLst>
              <a:ext uri="{FF2B5EF4-FFF2-40B4-BE49-F238E27FC236}">
                <a16:creationId xmlns:a16="http://schemas.microsoft.com/office/drawing/2014/main" id="{88A2A6FC-BA0B-4C4E-A2F4-E3E717ABFB52}"/>
              </a:ext>
            </a:extLst>
          </p:cNvPr>
          <p:cNvSpPr>
            <a:spLocks noGrp="1"/>
          </p:cNvSpPr>
          <p:nvPr/>
        </p:nvSpPr>
        <p:spPr>
          <a:xfrm>
            <a:off x="6334125" y="2571750"/>
            <a:ext cx="2381250" cy="609600"/>
          </a:xfrm>
          <a:prstGeom prst="rect">
            <a:avLst/>
          </a:prstGeom>
          <a:noFill/>
          <a:ln w="0">
            <a:noFill/>
            <a:prstDash val="solid"/>
          </a:ln>
        </p:spPr>
        <p:txBody>
          <a:bodyPr/>
          <a:lstStyle/>
          <a:p>
            <a:pPr>
              <a:buNone/>
              <a:defRPr sz="3600" b="1">
                <a:solidFill>
                  <a:srgbClr val="173F5F"/>
                </a:solidFill>
              </a:defRPr>
            </a:pPr>
            <a:r>
              <a:rPr sz="3600" b="1">
                <a:solidFill>
                  <a:srgbClr val="173F5F"/>
                </a:solidFill>
              </a:rPr>
              <a:t>90.0%</a:t>
            </a:r>
          </a:p>
        </p:txBody>
      </p:sp>
      <p:sp>
        <p:nvSpPr>
          <p:cNvPr id="9" name="text">
            <a:extLst>
              <a:ext uri="{FF2B5EF4-FFF2-40B4-BE49-F238E27FC236}">
                <a16:creationId xmlns:a16="http://schemas.microsoft.com/office/drawing/2014/main" id="{D0E18FD8-C668-4D0A-A953-C5AE13794231}"/>
              </a:ext>
            </a:extLst>
          </p:cNvPr>
          <p:cNvSpPr>
            <a:spLocks noGrp="1"/>
          </p:cNvSpPr>
          <p:nvPr/>
        </p:nvSpPr>
        <p:spPr>
          <a:xfrm>
            <a:off x="6334125" y="3476625"/>
            <a:ext cx="1714500" cy="266700"/>
          </a:xfrm>
          <a:prstGeom prst="rect">
            <a:avLst/>
          </a:prstGeom>
          <a:noFill/>
          <a:ln w="0">
            <a:noFill/>
            <a:prstDash val="solid"/>
          </a:ln>
        </p:spPr>
        <p:txBody>
          <a:bodyPr/>
          <a:lstStyle/>
          <a:p>
            <a:pPr>
              <a:buNone/>
              <a:defRPr sz="1200" b="1">
                <a:solidFill>
                  <a:srgbClr val="3494BA"/>
                </a:solidFill>
              </a:defRPr>
            </a:pPr>
            <a:r>
              <a:rPr sz="1200" b="1">
                <a:solidFill>
                  <a:srgbClr val="3494BA"/>
                </a:solidFill>
              </a:rPr>
              <a:t>RESULT</a:t>
            </a:r>
          </a:p>
        </p:txBody>
      </p:sp>
      <p:sp>
        <p:nvSpPr>
          <p:cNvPr id="10" name="text">
            <a:extLst>
              <a:ext uri="{FF2B5EF4-FFF2-40B4-BE49-F238E27FC236}">
                <a16:creationId xmlns:a16="http://schemas.microsoft.com/office/drawing/2014/main" id="{184661AD-A3C6-45A5-B84F-CBB34DE88FEF}"/>
              </a:ext>
            </a:extLst>
          </p:cNvPr>
          <p:cNvSpPr>
            <a:spLocks noGrp="1"/>
          </p:cNvSpPr>
          <p:nvPr/>
        </p:nvSpPr>
        <p:spPr>
          <a:xfrm>
            <a:off x="6334125" y="3810000"/>
            <a:ext cx="4095750" cy="495300"/>
          </a:xfrm>
          <a:prstGeom prst="rect">
            <a:avLst/>
          </a:prstGeom>
          <a:noFill/>
          <a:ln w="0">
            <a:noFill/>
            <a:prstDash val="solid"/>
          </a:ln>
        </p:spPr>
        <p:txBody>
          <a:bodyPr/>
          <a:lstStyle/>
          <a:p>
            <a:pPr>
              <a:buNone/>
              <a:defRPr sz="2175" b="1">
                <a:solidFill>
                  <a:srgbClr val="373545"/>
                </a:solidFill>
              </a:defRPr>
            </a:pPr>
            <a:r>
              <a:rPr sz="2175" b="1">
                <a:solidFill>
                  <a:srgbClr val="373545"/>
                </a:solidFill>
              </a:rPr>
              <a:t>0.69 points below target</a:t>
            </a:r>
          </a:p>
        </p:txBody>
      </p:sp>
      <p:sp>
        <p:nvSpPr>
          <p:cNvPr id="11" name="text">
            <a:extLst>
              <a:ext uri="{FF2B5EF4-FFF2-40B4-BE49-F238E27FC236}">
                <a16:creationId xmlns:a16="http://schemas.microsoft.com/office/drawing/2014/main" id="{FA779166-9720-4F89-B044-603C3ECAC4E2}"/>
              </a:ext>
            </a:extLst>
          </p:cNvPr>
          <p:cNvSpPr>
            <a:spLocks noGrp="1"/>
          </p:cNvSpPr>
          <p:nvPr/>
        </p:nvSpPr>
        <p:spPr>
          <a:xfrm>
            <a:off x="6334125" y="4572000"/>
            <a:ext cx="4333875" cy="762000"/>
          </a:xfrm>
          <a:prstGeom prst="rect">
            <a:avLst/>
          </a:prstGeom>
          <a:noFill/>
          <a:ln w="0">
            <a:noFill/>
            <a:prstDash val="solid"/>
          </a:ln>
        </p:spPr>
        <p:txBody>
          <a:bodyPr/>
          <a:lstStyle/>
          <a:p>
            <a:pPr>
              <a:buNone/>
              <a:defRPr sz="1800" b="1">
                <a:solidFill>
                  <a:srgbClr val="2A9D8F"/>
                </a:solidFill>
              </a:defRPr>
            </a:pPr>
            <a:r>
              <a:rPr sz="1800" b="1">
                <a:solidFill>
                  <a:srgbClr val="2A9D8F"/>
                </a:solidFill>
              </a:rPr>
              <a:t>Within the predefined two-point tolerance → PASS for a controlled pilot</a:t>
            </a:r>
          </a:p>
        </p:txBody>
      </p:sp>
    </p:spTree>
    <p:extLst>
      <p:ext uri="{BB962C8B-B14F-4D97-AF65-F5344CB8AC3E}">
        <p14:creationId xmlns:p14="http://schemas.microsoft.com/office/powerpoint/2010/main" val="16213122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tory-role">
            <a:extLst>
              <a:ext uri="{FF2B5EF4-FFF2-40B4-BE49-F238E27FC236}">
                <a16:creationId xmlns:a16="http://schemas.microsoft.com/office/drawing/2014/main" id="{739B40C3-BD7B-41C7-BE8D-344525CB4569}"/>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RESOLUTION</a:t>
            </a:r>
          </a:p>
        </p:txBody>
      </p:sp>
      <p:sp>
        <p:nvSpPr>
          <p:cNvPr id="2" name="Title Placeholder 1">
            <a:extLst>
              <a:ext uri="{FF2B5EF4-FFF2-40B4-BE49-F238E27FC236}">
                <a16:creationId xmlns:a16="http://schemas.microsoft.com/office/drawing/2014/main" id="{6A0320B3-F0D7-4EBB-BCA9-00D802E74308}"/>
              </a:ext>
            </a:extLst>
          </p:cNvPr>
          <p:cNvSpPr>
            <a:spLocks noGrp="1"/>
          </p:cNvSpPr>
          <p:nvPr>
            <p:ph type="title"/>
          </p:nvPr>
        </p:nvSpPr>
        <p:spPr>
          <a:xfrm>
            <a:off x="742950" y="457200"/>
            <a:ext cx="10706100" cy="1143000"/>
          </a:xfrm>
          <a:prstGeom prst="rect">
            <a:avLst/>
          </a:prstGeom>
        </p:spPr>
        <p:txBody>
          <a:bodyPr vert="horz" lIns="91440" tIns="45720" rIns="91440" bIns="45720" anchor="b">
            <a:normAutofit/>
          </a:bodyPr>
          <a:lstStyle/>
          <a:p>
            <a:pPr algn="l">
              <a:buNone/>
              <a:defRPr sz="3000">
                <a:solidFill>
                  <a:srgbClr val="373545"/>
                </a:solidFill>
              </a:defRPr>
            </a:pPr>
            <a:r>
              <a:rPr sz="3000">
                <a:solidFill>
                  <a:srgbClr val="373545"/>
                </a:solidFill>
              </a:rPr>
              <a:t>The working prototype fits the broker workflow and keeps unusual cases under human review.</a:t>
            </a:r>
            <a:endParaRPr/>
          </a:p>
        </p:txBody>
      </p:sp>
      <p:pic>
        <p:nvPicPr>
          <p:cNvPr id="17" name="Picture 16"/>
          <p:cNvPicPr>
            <a:picLocks noChangeAspect="1"/>
          </p:cNvPicPr>
          <p:nvPr/>
        </p:nvPicPr>
        <p:blipFill>
          <a:blip r:embed="rId3"/>
          <a:stretch/>
        </p:blipFill>
        <p:spPr>
          <a:xfrm>
            <a:off x="666750" y="1860043"/>
            <a:ext cx="7858125" cy="3423664"/>
          </a:xfrm>
          <a:prstGeom prst="rect">
            <a:avLst/>
          </a:prstGeom>
        </p:spPr>
      </p:pic>
      <p:sp>
        <p:nvSpPr>
          <p:cNvPr id="4" name="prototype-outcome">
            <a:extLst>
              <a:ext uri="{FF2B5EF4-FFF2-40B4-BE49-F238E27FC236}">
                <a16:creationId xmlns:a16="http://schemas.microsoft.com/office/drawing/2014/main" id="{B6810C12-B26E-4C41-8074-8A8D4080724B}"/>
              </a:ext>
            </a:extLst>
          </p:cNvPr>
          <p:cNvSpPr>
            <a:spLocks noGrp="1"/>
          </p:cNvSpPr>
          <p:nvPr/>
        </p:nvSpPr>
        <p:spPr>
          <a:xfrm>
            <a:off x="8810625" y="1952625"/>
            <a:ext cx="2667000" cy="3238500"/>
          </a:xfrm>
          <a:prstGeom prst="roundRect">
            <a:avLst>
              <a:gd name="adj" fmla="val 4286"/>
            </a:avLst>
          </a:prstGeom>
          <a:solidFill>
            <a:srgbClr val="F5F8FA"/>
          </a:solidFill>
          <a:ln w="9525">
            <a:solidFill>
              <a:srgbClr val="58B6C0"/>
            </a:solidFill>
            <a:prstDash val="solid"/>
          </a:ln>
        </p:spPr>
        <p:txBody>
          <a:bodyPr/>
          <a:lstStyle/>
          <a:p>
            <a:endParaRPr lang="en-US"/>
          </a:p>
        </p:txBody>
      </p:sp>
      <p:sp>
        <p:nvSpPr>
          <p:cNvPr id="5" name="text">
            <a:extLst>
              <a:ext uri="{FF2B5EF4-FFF2-40B4-BE49-F238E27FC236}">
                <a16:creationId xmlns:a16="http://schemas.microsoft.com/office/drawing/2014/main" id="{54959846-C82A-4B13-9E50-0EDA336F1E65}"/>
              </a:ext>
            </a:extLst>
          </p:cNvPr>
          <p:cNvSpPr>
            <a:spLocks noGrp="1"/>
          </p:cNvSpPr>
          <p:nvPr/>
        </p:nvSpPr>
        <p:spPr>
          <a:xfrm>
            <a:off x="9096375" y="2238375"/>
            <a:ext cx="2095500" cy="304800"/>
          </a:xfrm>
          <a:prstGeom prst="rect">
            <a:avLst/>
          </a:prstGeom>
          <a:noFill/>
          <a:ln w="0">
            <a:noFill/>
            <a:prstDash val="solid"/>
          </a:ln>
        </p:spPr>
        <p:txBody>
          <a:bodyPr/>
          <a:lstStyle/>
          <a:p>
            <a:pPr algn="ctr">
              <a:buNone/>
              <a:defRPr sz="1350" b="1">
                <a:solidFill>
                  <a:srgbClr val="3494BA"/>
                </a:solidFill>
              </a:defRPr>
            </a:pPr>
            <a:r>
              <a:rPr sz="1350" b="1">
                <a:solidFill>
                  <a:srgbClr val="3494BA"/>
                </a:solidFill>
              </a:rPr>
              <a:t>HOW IT WORKS</a:t>
            </a:r>
          </a:p>
        </p:txBody>
      </p:sp>
      <p:sp>
        <p:nvSpPr>
          <p:cNvPr id="6" name="prototype-step-1">
            <a:extLst>
              <a:ext uri="{FF2B5EF4-FFF2-40B4-BE49-F238E27FC236}">
                <a16:creationId xmlns:a16="http://schemas.microsoft.com/office/drawing/2014/main" id="{0DB91C73-A65A-4ED6-A668-5AD56C792E4F}"/>
              </a:ext>
            </a:extLst>
          </p:cNvPr>
          <p:cNvSpPr>
            <a:spLocks noGrp="1"/>
          </p:cNvSpPr>
          <p:nvPr/>
        </p:nvSpPr>
        <p:spPr>
          <a:xfrm>
            <a:off x="9096375" y="2781300"/>
            <a:ext cx="361950" cy="361950"/>
          </a:xfrm>
          <a:prstGeom prst="ellipse">
            <a:avLst/>
          </a:prstGeom>
          <a:solidFill>
            <a:srgbClr val="3494BA"/>
          </a:solidFill>
          <a:ln w="9525">
            <a:solidFill>
              <a:srgbClr val="3494BA"/>
            </a:solidFill>
            <a:prstDash val="solid"/>
          </a:ln>
        </p:spPr>
        <p:txBody>
          <a:bodyPr/>
          <a:lstStyle/>
          <a:p>
            <a:endParaRPr lang="en-US"/>
          </a:p>
        </p:txBody>
      </p:sp>
      <p:sp>
        <p:nvSpPr>
          <p:cNvPr id="7" name="text">
            <a:extLst>
              <a:ext uri="{FF2B5EF4-FFF2-40B4-BE49-F238E27FC236}">
                <a16:creationId xmlns:a16="http://schemas.microsoft.com/office/drawing/2014/main" id="{0FB3F352-9720-451A-8D26-6A5ED42C969B}"/>
              </a:ext>
            </a:extLst>
          </p:cNvPr>
          <p:cNvSpPr>
            <a:spLocks noGrp="1"/>
          </p:cNvSpPr>
          <p:nvPr/>
        </p:nvSpPr>
        <p:spPr>
          <a:xfrm>
            <a:off x="9096375" y="2800350"/>
            <a:ext cx="361950" cy="304800"/>
          </a:xfrm>
          <a:prstGeom prst="rect">
            <a:avLst/>
          </a:prstGeom>
          <a:noFill/>
          <a:ln w="0">
            <a:noFill/>
            <a:prstDash val="solid"/>
          </a:ln>
        </p:spPr>
        <p:txBody>
          <a:bodyPr/>
          <a:lstStyle/>
          <a:p>
            <a:pPr algn="ctr">
              <a:buNone/>
              <a:defRPr sz="1725" b="1">
                <a:solidFill>
                  <a:srgbClr val="FFFFFF"/>
                </a:solidFill>
              </a:defRPr>
            </a:pPr>
            <a:r>
              <a:rPr sz="1725" b="1">
                <a:solidFill>
                  <a:srgbClr val="FFFFFF"/>
                </a:solidFill>
              </a:rPr>
              <a:t>1</a:t>
            </a:r>
          </a:p>
        </p:txBody>
      </p:sp>
      <p:sp>
        <p:nvSpPr>
          <p:cNvPr id="8" name="text">
            <a:extLst>
              <a:ext uri="{FF2B5EF4-FFF2-40B4-BE49-F238E27FC236}">
                <a16:creationId xmlns:a16="http://schemas.microsoft.com/office/drawing/2014/main" id="{3BFBBD50-8850-44E7-8040-623B49BB0C94}"/>
              </a:ext>
            </a:extLst>
          </p:cNvPr>
          <p:cNvSpPr>
            <a:spLocks noGrp="1"/>
          </p:cNvSpPr>
          <p:nvPr/>
        </p:nvSpPr>
        <p:spPr>
          <a:xfrm>
            <a:off x="9572625" y="2724150"/>
            <a:ext cx="1571625" cy="685800"/>
          </a:xfrm>
          <a:prstGeom prst="rect">
            <a:avLst/>
          </a:prstGeom>
          <a:noFill/>
          <a:ln w="0">
            <a:noFill/>
            <a:prstDash val="solid"/>
          </a:ln>
        </p:spPr>
        <p:txBody>
          <a:bodyPr/>
          <a:lstStyle/>
          <a:p>
            <a:pPr>
              <a:buNone/>
              <a:defRPr sz="1425">
                <a:solidFill>
                  <a:srgbClr val="373545"/>
                </a:solidFill>
              </a:defRPr>
            </a:pPr>
            <a:r>
              <a:rPr sz="1425">
                <a:solidFill>
                  <a:srgbClr val="373545"/>
                </a:solidFill>
              </a:rPr>
              <a:t>Broker enters the information already available at quote time.</a:t>
            </a:r>
          </a:p>
        </p:txBody>
      </p:sp>
      <p:sp>
        <p:nvSpPr>
          <p:cNvPr id="9" name="prototype-step-2">
            <a:extLst>
              <a:ext uri="{FF2B5EF4-FFF2-40B4-BE49-F238E27FC236}">
                <a16:creationId xmlns:a16="http://schemas.microsoft.com/office/drawing/2014/main" id="{20739677-6C66-432A-9A0B-168AF6DC1C66}"/>
              </a:ext>
            </a:extLst>
          </p:cNvPr>
          <p:cNvSpPr>
            <a:spLocks noGrp="1"/>
          </p:cNvSpPr>
          <p:nvPr/>
        </p:nvSpPr>
        <p:spPr>
          <a:xfrm>
            <a:off x="9096375" y="3638550"/>
            <a:ext cx="361950" cy="361950"/>
          </a:xfrm>
          <a:prstGeom prst="ellipse">
            <a:avLst/>
          </a:prstGeom>
          <a:solidFill>
            <a:srgbClr val="2A9D8F"/>
          </a:solidFill>
          <a:ln w="9525">
            <a:solidFill>
              <a:srgbClr val="2A9D8F"/>
            </a:solidFill>
            <a:prstDash val="solid"/>
          </a:ln>
        </p:spPr>
        <p:txBody>
          <a:bodyPr/>
          <a:lstStyle/>
          <a:p>
            <a:endParaRPr lang="en-US"/>
          </a:p>
        </p:txBody>
      </p:sp>
      <p:sp>
        <p:nvSpPr>
          <p:cNvPr id="10" name="text">
            <a:extLst>
              <a:ext uri="{FF2B5EF4-FFF2-40B4-BE49-F238E27FC236}">
                <a16:creationId xmlns:a16="http://schemas.microsoft.com/office/drawing/2014/main" id="{6C8C82F3-16DF-41F3-A512-50BBA465B47C}"/>
              </a:ext>
            </a:extLst>
          </p:cNvPr>
          <p:cNvSpPr>
            <a:spLocks noGrp="1"/>
          </p:cNvSpPr>
          <p:nvPr/>
        </p:nvSpPr>
        <p:spPr>
          <a:xfrm>
            <a:off x="9096375" y="3657600"/>
            <a:ext cx="361950" cy="304800"/>
          </a:xfrm>
          <a:prstGeom prst="rect">
            <a:avLst/>
          </a:prstGeom>
          <a:noFill/>
          <a:ln w="0">
            <a:noFill/>
            <a:prstDash val="solid"/>
          </a:ln>
        </p:spPr>
        <p:txBody>
          <a:bodyPr/>
          <a:lstStyle/>
          <a:p>
            <a:pPr algn="ctr">
              <a:buNone/>
              <a:defRPr sz="1725" b="1">
                <a:solidFill>
                  <a:srgbClr val="FFFFFF"/>
                </a:solidFill>
              </a:defRPr>
            </a:pPr>
            <a:r>
              <a:rPr sz="1725" b="1">
                <a:solidFill>
                  <a:srgbClr val="FFFFFF"/>
                </a:solidFill>
              </a:rPr>
              <a:t>2</a:t>
            </a:r>
          </a:p>
        </p:txBody>
      </p:sp>
      <p:sp>
        <p:nvSpPr>
          <p:cNvPr id="11" name="text">
            <a:extLst>
              <a:ext uri="{FF2B5EF4-FFF2-40B4-BE49-F238E27FC236}">
                <a16:creationId xmlns:a16="http://schemas.microsoft.com/office/drawing/2014/main" id="{DE1ABC82-5C17-4587-A78A-2F38BC713759}"/>
              </a:ext>
            </a:extLst>
          </p:cNvPr>
          <p:cNvSpPr>
            <a:spLocks noGrp="1"/>
          </p:cNvSpPr>
          <p:nvPr/>
        </p:nvSpPr>
        <p:spPr>
          <a:xfrm>
            <a:off x="9572625" y="3571875"/>
            <a:ext cx="1571625" cy="819150"/>
          </a:xfrm>
          <a:prstGeom prst="rect">
            <a:avLst/>
          </a:prstGeom>
          <a:noFill/>
          <a:ln w="0">
            <a:noFill/>
            <a:prstDash val="solid"/>
          </a:ln>
        </p:spPr>
        <p:txBody>
          <a:bodyPr/>
          <a:lstStyle/>
          <a:p>
            <a:pPr>
              <a:buNone/>
              <a:defRPr sz="1425">
                <a:solidFill>
                  <a:srgbClr val="373545"/>
                </a:solidFill>
              </a:defRPr>
            </a:pPr>
            <a:r>
              <a:rPr sz="1425">
                <a:solidFill>
                  <a:srgbClr val="373545"/>
                </a:solidFill>
              </a:rPr>
              <a:t>The tool returns an estimated final cost and suggested low–high range.</a:t>
            </a:r>
          </a:p>
        </p:txBody>
      </p:sp>
      <p:sp>
        <p:nvSpPr>
          <p:cNvPr id="12" name="text">
            <a:extLst>
              <a:ext uri="{FF2B5EF4-FFF2-40B4-BE49-F238E27FC236}">
                <a16:creationId xmlns:a16="http://schemas.microsoft.com/office/drawing/2014/main" id="{01DCA70C-30C7-41D7-B5C5-855341212C68}"/>
              </a:ext>
            </a:extLst>
          </p:cNvPr>
          <p:cNvSpPr>
            <a:spLocks noGrp="1"/>
          </p:cNvSpPr>
          <p:nvPr/>
        </p:nvSpPr>
        <p:spPr>
          <a:xfrm>
            <a:off x="8810625" y="5476875"/>
            <a:ext cx="2667000" cy="609600"/>
          </a:xfrm>
          <a:prstGeom prst="rect">
            <a:avLst/>
          </a:prstGeom>
          <a:noFill/>
          <a:ln w="0">
            <a:noFill/>
            <a:prstDash val="solid"/>
          </a:ln>
        </p:spPr>
        <p:txBody>
          <a:bodyPr/>
          <a:lstStyle/>
          <a:p>
            <a:pPr algn="ctr">
              <a:buNone/>
              <a:defRPr sz="1575" b="1">
                <a:solidFill>
                  <a:srgbClr val="2A9D8F"/>
                </a:solidFill>
              </a:defRPr>
            </a:pPr>
            <a:r>
              <a:rPr sz="1575" b="1">
                <a:solidFill>
                  <a:srgbClr val="2A9D8F"/>
                </a:solidFill>
              </a:rPr>
              <a:t>Result: a faster, consistent starting point—while the broker keeps final judgment.</a:t>
            </a:r>
          </a:p>
        </p:txBody>
      </p:sp>
    </p:spTree>
    <p:extLst>
      <p:ext uri="{BB962C8B-B14F-4D97-AF65-F5344CB8AC3E}">
        <p14:creationId xmlns:p14="http://schemas.microsoft.com/office/powerpoint/2010/main" val="446323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A 90-day pilot can measure whether the tool improves quote consistency, speed, and margin protection.</a:t>
            </a:r>
          </a:p>
        </p:txBody>
      </p:sp>
      <p:sp>
        <p:nvSpPr>
          <p:cNvPr id="3" name="story-role">
            <a:extLst>
              <a:ext uri="{FF2B5EF4-FFF2-40B4-BE49-F238E27FC236}">
                <a16:creationId xmlns:a16="http://schemas.microsoft.com/office/drawing/2014/main" id="{BB01A61B-C43B-4658-8E63-A10F556E9334}"/>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PAYOFF</a:t>
            </a:r>
          </a:p>
        </p:txBody>
      </p:sp>
      <p:sp>
        <p:nvSpPr>
          <p:cNvPr id="4" name="text">
            <a:extLst>
              <a:ext uri="{FF2B5EF4-FFF2-40B4-BE49-F238E27FC236}">
                <a16:creationId xmlns:a16="http://schemas.microsoft.com/office/drawing/2014/main" id="{7A263927-8BFC-4506-96BB-DE4BE63B7171}"/>
              </a:ext>
            </a:extLst>
          </p:cNvPr>
          <p:cNvSpPr>
            <a:spLocks noGrp="1"/>
          </p:cNvSpPr>
          <p:nvPr/>
        </p:nvSpPr>
        <p:spPr>
          <a:xfrm>
            <a:off x="857250" y="1952625"/>
            <a:ext cx="2857500" cy="476250"/>
          </a:xfrm>
          <a:prstGeom prst="rect">
            <a:avLst/>
          </a:prstGeom>
          <a:noFill/>
          <a:ln w="0">
            <a:noFill/>
            <a:prstDash val="solid"/>
          </a:ln>
        </p:spPr>
        <p:txBody>
          <a:bodyPr/>
          <a:lstStyle/>
          <a:p>
            <a:pPr>
              <a:buNone/>
              <a:defRPr sz="2100" b="1">
                <a:solidFill>
                  <a:srgbClr val="3494BA"/>
                </a:solidFill>
              </a:defRPr>
            </a:pPr>
            <a:r>
              <a:rPr sz="2100" b="1">
                <a:solidFill>
                  <a:srgbClr val="3494BA"/>
                </a:solidFill>
              </a:rPr>
              <a:t>90-DAY PILOT</a:t>
            </a:r>
          </a:p>
        </p:txBody>
      </p:sp>
      <p:sp>
        <p:nvSpPr>
          <p:cNvPr id="5" name="pilot-line">
            <a:extLst>
              <a:ext uri="{FF2B5EF4-FFF2-40B4-BE49-F238E27FC236}">
                <a16:creationId xmlns:a16="http://schemas.microsoft.com/office/drawing/2014/main" id="{3A55ABB6-BD52-4598-917A-A4C3F66491BE}"/>
              </a:ext>
            </a:extLst>
          </p:cNvPr>
          <p:cNvSpPr>
            <a:spLocks noGrp="1"/>
          </p:cNvSpPr>
          <p:nvPr/>
        </p:nvSpPr>
        <p:spPr>
          <a:xfrm>
            <a:off x="1428750" y="3667125"/>
            <a:ext cx="8096250" cy="0"/>
          </a:xfrm>
          <a:prstGeom prst="line">
            <a:avLst/>
          </a:prstGeom>
          <a:ln w="47625">
            <a:solidFill>
              <a:srgbClr val="58B6C0"/>
            </a:solidFill>
            <a:prstDash val="solid"/>
          </a:ln>
        </p:spPr>
        <p:txBody>
          <a:bodyPr/>
          <a:lstStyle/>
          <a:p>
            <a:endParaRPr lang="en-US"/>
          </a:p>
        </p:txBody>
      </p:sp>
      <p:sp>
        <p:nvSpPr>
          <p:cNvPr id="6" name="milestone-0">
            <a:extLst>
              <a:ext uri="{FF2B5EF4-FFF2-40B4-BE49-F238E27FC236}">
                <a16:creationId xmlns:a16="http://schemas.microsoft.com/office/drawing/2014/main" id="{BBC8C2E7-E817-4D17-9384-ECA4A0702988}"/>
              </a:ext>
            </a:extLst>
          </p:cNvPr>
          <p:cNvSpPr>
            <a:spLocks noGrp="1"/>
          </p:cNvSpPr>
          <p:nvPr/>
        </p:nvSpPr>
        <p:spPr>
          <a:xfrm>
            <a:off x="1619250" y="3419475"/>
            <a:ext cx="495300" cy="495300"/>
          </a:xfrm>
          <a:prstGeom prst="ellipse">
            <a:avLst/>
          </a:prstGeom>
          <a:solidFill>
            <a:srgbClr val="3494BA"/>
          </a:solidFill>
          <a:ln w="19050">
            <a:solidFill>
              <a:srgbClr val="FFFFFF"/>
            </a:solidFill>
            <a:prstDash val="solid"/>
          </a:ln>
        </p:spPr>
        <p:txBody>
          <a:bodyPr/>
          <a:lstStyle/>
          <a:p>
            <a:endParaRPr lang="en-US"/>
          </a:p>
        </p:txBody>
      </p:sp>
      <p:sp>
        <p:nvSpPr>
          <p:cNvPr id="7" name="text">
            <a:extLst>
              <a:ext uri="{FF2B5EF4-FFF2-40B4-BE49-F238E27FC236}">
                <a16:creationId xmlns:a16="http://schemas.microsoft.com/office/drawing/2014/main" id="{BFF8D037-446E-4442-9836-A5985BB116D2}"/>
              </a:ext>
            </a:extLst>
          </p:cNvPr>
          <p:cNvSpPr>
            <a:spLocks noGrp="1"/>
          </p:cNvSpPr>
          <p:nvPr/>
        </p:nvSpPr>
        <p:spPr>
          <a:xfrm>
            <a:off x="1285875" y="2714625"/>
            <a:ext cx="1809750" cy="323850"/>
          </a:xfrm>
          <a:prstGeom prst="rect">
            <a:avLst/>
          </a:prstGeom>
          <a:noFill/>
          <a:ln w="0">
            <a:noFill/>
            <a:prstDash val="solid"/>
          </a:ln>
        </p:spPr>
        <p:txBody>
          <a:bodyPr/>
          <a:lstStyle/>
          <a:p>
            <a:pPr algn="ctr">
              <a:buNone/>
              <a:defRPr sz="1350" b="1">
                <a:solidFill>
                  <a:srgbClr val="173F5F"/>
                </a:solidFill>
              </a:defRPr>
            </a:pPr>
            <a:r>
              <a:rPr sz="1350" b="1">
                <a:solidFill>
                  <a:srgbClr val="173F5F"/>
                </a:solidFill>
              </a:rPr>
              <a:t>DAYS 1–30</a:t>
            </a:r>
          </a:p>
        </p:txBody>
      </p:sp>
      <p:sp>
        <p:nvSpPr>
          <p:cNvPr id="8" name="text">
            <a:extLst>
              <a:ext uri="{FF2B5EF4-FFF2-40B4-BE49-F238E27FC236}">
                <a16:creationId xmlns:a16="http://schemas.microsoft.com/office/drawing/2014/main" id="{75489BD6-FE07-4362-8EDE-B5DC2B8FB800}"/>
              </a:ext>
            </a:extLst>
          </p:cNvPr>
          <p:cNvSpPr>
            <a:spLocks noGrp="1"/>
          </p:cNvSpPr>
          <p:nvPr/>
        </p:nvSpPr>
        <p:spPr>
          <a:xfrm>
            <a:off x="952500" y="4095750"/>
            <a:ext cx="2571750" cy="1000125"/>
          </a:xfrm>
          <a:prstGeom prst="rect">
            <a:avLst/>
          </a:prstGeom>
          <a:noFill/>
          <a:ln w="0">
            <a:noFill/>
            <a:prstDash val="solid"/>
          </a:ln>
        </p:spPr>
        <p:txBody>
          <a:bodyPr/>
          <a:lstStyle/>
          <a:p>
            <a:pPr algn="ctr">
              <a:buNone/>
              <a:defRPr sz="1500">
                <a:solidFill>
                  <a:srgbClr val="373545"/>
                </a:solidFill>
              </a:defRPr>
            </a:pPr>
            <a:r>
              <a:rPr sz="1500">
                <a:solidFill>
                  <a:srgbClr val="373545"/>
                </a:solidFill>
              </a:rPr>
              <a:t>Train a small broker group</a:t>
            </a:r>
          </a:p>
          <a:p>
            <a:pPr algn="ctr">
              <a:buNone/>
              <a:defRPr sz="1500">
                <a:solidFill>
                  <a:srgbClr val="373545"/>
                </a:solidFill>
              </a:defRPr>
            </a:pPr>
            <a:r>
              <a:rPr sz="1500">
                <a:solidFill>
                  <a:srgbClr val="373545"/>
                </a:solidFill>
              </a:rPr>
              <a:t>and capture every tool-assisted quote</a:t>
            </a:r>
          </a:p>
        </p:txBody>
      </p:sp>
      <p:sp>
        <p:nvSpPr>
          <p:cNvPr id="9" name="milestone-1">
            <a:extLst>
              <a:ext uri="{FF2B5EF4-FFF2-40B4-BE49-F238E27FC236}">
                <a16:creationId xmlns:a16="http://schemas.microsoft.com/office/drawing/2014/main" id="{22706069-A697-4FB0-A528-2066D83D489D}"/>
              </a:ext>
            </a:extLst>
          </p:cNvPr>
          <p:cNvSpPr>
            <a:spLocks noGrp="1"/>
          </p:cNvSpPr>
          <p:nvPr/>
        </p:nvSpPr>
        <p:spPr>
          <a:xfrm>
            <a:off x="4953000" y="3419475"/>
            <a:ext cx="495300" cy="495300"/>
          </a:xfrm>
          <a:prstGeom prst="ellipse">
            <a:avLst/>
          </a:prstGeom>
          <a:solidFill>
            <a:srgbClr val="3494BA"/>
          </a:solidFill>
          <a:ln w="19050">
            <a:solidFill>
              <a:srgbClr val="FFFFFF"/>
            </a:solidFill>
            <a:prstDash val="solid"/>
          </a:ln>
        </p:spPr>
        <p:txBody>
          <a:bodyPr/>
          <a:lstStyle/>
          <a:p>
            <a:endParaRPr lang="en-US"/>
          </a:p>
        </p:txBody>
      </p:sp>
      <p:sp>
        <p:nvSpPr>
          <p:cNvPr id="10" name="text">
            <a:extLst>
              <a:ext uri="{FF2B5EF4-FFF2-40B4-BE49-F238E27FC236}">
                <a16:creationId xmlns:a16="http://schemas.microsoft.com/office/drawing/2014/main" id="{79A369DD-8264-406B-9D4C-833735E43AAF}"/>
              </a:ext>
            </a:extLst>
          </p:cNvPr>
          <p:cNvSpPr>
            <a:spLocks noGrp="1"/>
          </p:cNvSpPr>
          <p:nvPr/>
        </p:nvSpPr>
        <p:spPr>
          <a:xfrm>
            <a:off x="4619625" y="2714625"/>
            <a:ext cx="1809750" cy="323850"/>
          </a:xfrm>
          <a:prstGeom prst="rect">
            <a:avLst/>
          </a:prstGeom>
          <a:noFill/>
          <a:ln w="0">
            <a:noFill/>
            <a:prstDash val="solid"/>
          </a:ln>
        </p:spPr>
        <p:txBody>
          <a:bodyPr/>
          <a:lstStyle/>
          <a:p>
            <a:pPr algn="ctr">
              <a:buNone/>
              <a:defRPr sz="1350" b="1">
                <a:solidFill>
                  <a:srgbClr val="173F5F"/>
                </a:solidFill>
              </a:defRPr>
            </a:pPr>
            <a:r>
              <a:rPr sz="1350" b="1">
                <a:solidFill>
                  <a:srgbClr val="173F5F"/>
                </a:solidFill>
              </a:rPr>
              <a:t>DAYS 31–60</a:t>
            </a:r>
          </a:p>
        </p:txBody>
      </p:sp>
      <p:sp>
        <p:nvSpPr>
          <p:cNvPr id="11" name="text">
            <a:extLst>
              <a:ext uri="{FF2B5EF4-FFF2-40B4-BE49-F238E27FC236}">
                <a16:creationId xmlns:a16="http://schemas.microsoft.com/office/drawing/2014/main" id="{5DD77F21-341D-458E-8313-CE2EB7AAF13A}"/>
              </a:ext>
            </a:extLst>
          </p:cNvPr>
          <p:cNvSpPr>
            <a:spLocks noGrp="1"/>
          </p:cNvSpPr>
          <p:nvPr/>
        </p:nvSpPr>
        <p:spPr>
          <a:xfrm>
            <a:off x="4286250" y="4095750"/>
            <a:ext cx="2571750" cy="1000125"/>
          </a:xfrm>
          <a:prstGeom prst="rect">
            <a:avLst/>
          </a:prstGeom>
          <a:noFill/>
          <a:ln w="0">
            <a:noFill/>
            <a:prstDash val="solid"/>
          </a:ln>
        </p:spPr>
        <p:txBody>
          <a:bodyPr/>
          <a:lstStyle/>
          <a:p>
            <a:pPr algn="ctr">
              <a:buNone/>
              <a:defRPr sz="1500">
                <a:solidFill>
                  <a:srgbClr val="373545"/>
                </a:solidFill>
              </a:defRPr>
            </a:pPr>
            <a:r>
              <a:rPr sz="1500">
                <a:solidFill>
                  <a:srgbClr val="373545"/>
                </a:solidFill>
              </a:rPr>
              <a:t>Compare estimate, range and final cost</a:t>
            </a:r>
          </a:p>
          <a:p>
            <a:pPr algn="ctr">
              <a:buNone/>
              <a:defRPr sz="1500">
                <a:solidFill>
                  <a:srgbClr val="373545"/>
                </a:solidFill>
              </a:defRPr>
            </a:pPr>
            <a:r>
              <a:rPr sz="1500">
                <a:solidFill>
                  <a:srgbClr val="373545"/>
                </a:solidFill>
              </a:rPr>
              <a:t>by mode, branch and route</a:t>
            </a:r>
          </a:p>
        </p:txBody>
      </p:sp>
      <p:sp>
        <p:nvSpPr>
          <p:cNvPr id="12" name="milestone-2">
            <a:extLst>
              <a:ext uri="{FF2B5EF4-FFF2-40B4-BE49-F238E27FC236}">
                <a16:creationId xmlns:a16="http://schemas.microsoft.com/office/drawing/2014/main" id="{E2E21C81-5337-41A0-AB04-7698C7AD4408}"/>
              </a:ext>
            </a:extLst>
          </p:cNvPr>
          <p:cNvSpPr>
            <a:spLocks noGrp="1"/>
          </p:cNvSpPr>
          <p:nvPr/>
        </p:nvSpPr>
        <p:spPr>
          <a:xfrm>
            <a:off x="8286750" y="3419475"/>
            <a:ext cx="495300" cy="495300"/>
          </a:xfrm>
          <a:prstGeom prst="ellipse">
            <a:avLst/>
          </a:prstGeom>
          <a:solidFill>
            <a:srgbClr val="2A9D8F"/>
          </a:solidFill>
          <a:ln w="19050">
            <a:solidFill>
              <a:srgbClr val="FFFFFF"/>
            </a:solidFill>
            <a:prstDash val="solid"/>
          </a:ln>
        </p:spPr>
        <p:txBody>
          <a:bodyPr/>
          <a:lstStyle/>
          <a:p>
            <a:endParaRPr lang="en-US"/>
          </a:p>
        </p:txBody>
      </p:sp>
      <p:sp>
        <p:nvSpPr>
          <p:cNvPr id="13" name="text">
            <a:extLst>
              <a:ext uri="{FF2B5EF4-FFF2-40B4-BE49-F238E27FC236}">
                <a16:creationId xmlns:a16="http://schemas.microsoft.com/office/drawing/2014/main" id="{366A6B92-6517-47CB-8E53-0C24F51BE7F1}"/>
              </a:ext>
            </a:extLst>
          </p:cNvPr>
          <p:cNvSpPr>
            <a:spLocks noGrp="1"/>
          </p:cNvSpPr>
          <p:nvPr/>
        </p:nvSpPr>
        <p:spPr>
          <a:xfrm>
            <a:off x="7953375" y="2714625"/>
            <a:ext cx="1809750" cy="323850"/>
          </a:xfrm>
          <a:prstGeom prst="rect">
            <a:avLst/>
          </a:prstGeom>
          <a:noFill/>
          <a:ln w="0">
            <a:noFill/>
            <a:prstDash val="solid"/>
          </a:ln>
        </p:spPr>
        <p:txBody>
          <a:bodyPr/>
          <a:lstStyle/>
          <a:p>
            <a:pPr algn="ctr">
              <a:buNone/>
              <a:defRPr sz="1350" b="1">
                <a:solidFill>
                  <a:srgbClr val="173F5F"/>
                </a:solidFill>
              </a:defRPr>
            </a:pPr>
            <a:r>
              <a:rPr sz="1350" b="1">
                <a:solidFill>
                  <a:srgbClr val="173F5F"/>
                </a:solidFill>
              </a:rPr>
              <a:t>DAYS 61–90</a:t>
            </a:r>
          </a:p>
        </p:txBody>
      </p:sp>
      <p:sp>
        <p:nvSpPr>
          <p:cNvPr id="14" name="text">
            <a:extLst>
              <a:ext uri="{FF2B5EF4-FFF2-40B4-BE49-F238E27FC236}">
                <a16:creationId xmlns:a16="http://schemas.microsoft.com/office/drawing/2014/main" id="{8BB18476-C863-450F-B89C-4DF8A068618B}"/>
              </a:ext>
            </a:extLst>
          </p:cNvPr>
          <p:cNvSpPr>
            <a:spLocks noGrp="1"/>
          </p:cNvSpPr>
          <p:nvPr/>
        </p:nvSpPr>
        <p:spPr>
          <a:xfrm>
            <a:off x="7524750" y="4095750"/>
            <a:ext cx="2143125" cy="1000125"/>
          </a:xfrm>
          <a:prstGeom prst="rect">
            <a:avLst/>
          </a:prstGeom>
          <a:noFill/>
          <a:ln w="0">
            <a:noFill/>
            <a:prstDash val="solid"/>
          </a:ln>
        </p:spPr>
        <p:txBody>
          <a:bodyPr/>
          <a:lstStyle/>
          <a:p>
            <a:pPr algn="ctr">
              <a:buNone/>
              <a:defRPr sz="1350">
                <a:solidFill>
                  <a:srgbClr val="373545"/>
                </a:solidFill>
              </a:defRPr>
            </a:pPr>
            <a:r>
              <a:rPr sz="1350">
                <a:solidFill>
                  <a:srgbClr val="373545"/>
                </a:solidFill>
              </a:rPr>
              <a:t>Review pilot evidence</a:t>
            </a:r>
          </a:p>
          <a:p>
            <a:pPr algn="ctr">
              <a:buNone/>
              <a:defRPr sz="1350">
                <a:solidFill>
                  <a:srgbClr val="373545"/>
                </a:solidFill>
              </a:defRPr>
            </a:pPr>
            <a:r>
              <a:rPr sz="1350">
                <a:solidFill>
                  <a:srgbClr val="373545"/>
                </a:solidFill>
              </a:rPr>
              <a:t>and decide scale, recalibrate or stop</a:t>
            </a:r>
          </a:p>
        </p:txBody>
      </p:sp>
      <p:sp>
        <p:nvSpPr>
          <p:cNvPr id="15" name="pilot-metrics">
            <a:extLst>
              <a:ext uri="{FF2B5EF4-FFF2-40B4-BE49-F238E27FC236}">
                <a16:creationId xmlns:a16="http://schemas.microsoft.com/office/drawing/2014/main" id="{2EE3D1DA-0915-43B7-A552-E97BFC077132}"/>
              </a:ext>
            </a:extLst>
          </p:cNvPr>
          <p:cNvSpPr>
            <a:spLocks noGrp="1"/>
          </p:cNvSpPr>
          <p:nvPr/>
        </p:nvSpPr>
        <p:spPr>
          <a:xfrm>
            <a:off x="9858375" y="2333625"/>
            <a:ext cx="1666875" cy="3000375"/>
          </a:xfrm>
          <a:prstGeom prst="roundRect">
            <a:avLst>
              <a:gd name="adj" fmla="val 6857"/>
            </a:avLst>
          </a:prstGeom>
          <a:solidFill>
            <a:srgbClr val="F5F8FA"/>
          </a:solidFill>
          <a:ln w="9525">
            <a:solidFill>
              <a:srgbClr val="58B6C0"/>
            </a:solidFill>
            <a:prstDash val="solid"/>
          </a:ln>
        </p:spPr>
        <p:txBody>
          <a:bodyPr/>
          <a:lstStyle/>
          <a:p>
            <a:endParaRPr lang="en-US"/>
          </a:p>
        </p:txBody>
      </p:sp>
      <p:sp>
        <p:nvSpPr>
          <p:cNvPr id="16" name="text">
            <a:extLst>
              <a:ext uri="{FF2B5EF4-FFF2-40B4-BE49-F238E27FC236}">
                <a16:creationId xmlns:a16="http://schemas.microsoft.com/office/drawing/2014/main" id="{75FEE894-33E3-43A4-AE6E-BCAA77749542}"/>
              </a:ext>
            </a:extLst>
          </p:cNvPr>
          <p:cNvSpPr>
            <a:spLocks noGrp="1"/>
          </p:cNvSpPr>
          <p:nvPr/>
        </p:nvSpPr>
        <p:spPr>
          <a:xfrm>
            <a:off x="10048875" y="2619375"/>
            <a:ext cx="1285875" cy="285750"/>
          </a:xfrm>
          <a:prstGeom prst="rect">
            <a:avLst/>
          </a:prstGeom>
          <a:noFill/>
          <a:ln w="0">
            <a:noFill/>
            <a:prstDash val="solid"/>
          </a:ln>
        </p:spPr>
        <p:txBody>
          <a:bodyPr/>
          <a:lstStyle/>
          <a:p>
            <a:pPr algn="ctr">
              <a:buNone/>
              <a:defRPr sz="1275" b="1">
                <a:solidFill>
                  <a:srgbClr val="3494BA"/>
                </a:solidFill>
              </a:defRPr>
            </a:pPr>
            <a:r>
              <a:rPr sz="1275" b="1">
                <a:solidFill>
                  <a:srgbClr val="3494BA"/>
                </a:solidFill>
              </a:rPr>
              <a:t>MEASURE</a:t>
            </a:r>
          </a:p>
        </p:txBody>
      </p:sp>
      <p:sp>
        <p:nvSpPr>
          <p:cNvPr id="17" name="text">
            <a:extLst>
              <a:ext uri="{FF2B5EF4-FFF2-40B4-BE49-F238E27FC236}">
                <a16:creationId xmlns:a16="http://schemas.microsoft.com/office/drawing/2014/main" id="{88E2ADE7-536A-4F9F-A04F-F377FEACAD06}"/>
              </a:ext>
            </a:extLst>
          </p:cNvPr>
          <p:cNvSpPr>
            <a:spLocks noGrp="1"/>
          </p:cNvSpPr>
          <p:nvPr/>
        </p:nvSpPr>
        <p:spPr>
          <a:xfrm>
            <a:off x="10048875" y="3143250"/>
            <a:ext cx="1285875" cy="1619250"/>
          </a:xfrm>
          <a:prstGeom prst="rect">
            <a:avLst/>
          </a:prstGeom>
          <a:noFill/>
          <a:ln w="0">
            <a:noFill/>
            <a:prstDash val="solid"/>
          </a:ln>
        </p:spPr>
        <p:txBody>
          <a:bodyPr/>
          <a:lstStyle/>
          <a:p>
            <a:pPr algn="ctr">
              <a:buNone/>
              <a:defRPr sz="1500">
                <a:solidFill>
                  <a:srgbClr val="373545"/>
                </a:solidFill>
              </a:defRPr>
            </a:pPr>
            <a:r>
              <a:rPr sz="1500">
                <a:solidFill>
                  <a:srgbClr val="373545"/>
                </a:solidFill>
              </a:rPr>
              <a:t>Coverage</a:t>
            </a:r>
          </a:p>
          <a:p>
            <a:pPr algn="ctr">
              <a:buNone/>
              <a:defRPr sz="1500">
                <a:solidFill>
                  <a:srgbClr val="373545"/>
                </a:solidFill>
              </a:defRPr>
            </a:pPr>
            <a:r>
              <a:rPr sz="1500">
                <a:solidFill>
                  <a:srgbClr val="373545"/>
                </a:solidFill>
              </a:rPr>
              <a:t>Range width</a:t>
            </a:r>
          </a:p>
          <a:p>
            <a:pPr algn="ctr">
              <a:buNone/>
              <a:defRPr sz="1500">
                <a:solidFill>
                  <a:srgbClr val="373545"/>
                </a:solidFill>
              </a:defRPr>
            </a:pPr>
            <a:r>
              <a:rPr sz="1500">
                <a:solidFill>
                  <a:srgbClr val="373545"/>
                </a:solidFill>
              </a:rPr>
              <a:t>Quote time</a:t>
            </a:r>
          </a:p>
          <a:p>
            <a:pPr algn="ctr">
              <a:buNone/>
              <a:defRPr sz="1500">
                <a:solidFill>
                  <a:srgbClr val="373545"/>
                </a:solidFill>
              </a:defRPr>
            </a:pPr>
            <a:r>
              <a:rPr sz="1500">
                <a:solidFill>
                  <a:srgbClr val="373545"/>
                </a:solidFill>
              </a:rPr>
              <a:t>Broker adoption</a:t>
            </a:r>
          </a:p>
          <a:p>
            <a:pPr algn="ctr">
              <a:buNone/>
              <a:defRPr sz="1500">
                <a:solidFill>
                  <a:srgbClr val="373545"/>
                </a:solidFill>
              </a:defRPr>
            </a:pPr>
            <a:r>
              <a:rPr sz="1500">
                <a:solidFill>
                  <a:srgbClr val="373545"/>
                </a:solidFill>
              </a:rPr>
              <a:t>Quote changes</a:t>
            </a:r>
          </a:p>
          <a:p>
            <a:pPr algn="ctr">
              <a:buNone/>
              <a:defRPr sz="1500">
                <a:solidFill>
                  <a:srgbClr val="373545"/>
                </a:solidFill>
              </a:defRPr>
            </a:pPr>
            <a:r>
              <a:rPr sz="1500">
                <a:solidFill>
                  <a:srgbClr val="373545"/>
                </a:solidFill>
              </a:rPr>
              <a:t>Margin leakage</a:t>
            </a:r>
          </a:p>
        </p:txBody>
      </p:sp>
      <p:sp>
        <p:nvSpPr>
          <p:cNvPr id="18" name="text">
            <a:extLst>
              <a:ext uri="{FF2B5EF4-FFF2-40B4-BE49-F238E27FC236}">
                <a16:creationId xmlns:a16="http://schemas.microsoft.com/office/drawing/2014/main" id="{179463A1-582A-4285-BA84-AEF6F5FC320C}"/>
              </a:ext>
            </a:extLst>
          </p:cNvPr>
          <p:cNvSpPr>
            <a:spLocks noGrp="1"/>
          </p:cNvSpPr>
          <p:nvPr/>
        </p:nvSpPr>
        <p:spPr>
          <a:xfrm>
            <a:off x="1047750" y="5619750"/>
            <a:ext cx="9525000" cy="400050"/>
          </a:xfrm>
          <a:prstGeom prst="rect">
            <a:avLst/>
          </a:prstGeom>
          <a:noFill/>
          <a:ln w="0">
            <a:noFill/>
            <a:prstDash val="solid"/>
          </a:ln>
        </p:spPr>
        <p:txBody>
          <a:bodyPr/>
          <a:lstStyle/>
          <a:p>
            <a:pPr algn="ctr">
              <a:buNone/>
              <a:defRPr sz="1875" b="1">
                <a:solidFill>
                  <a:srgbClr val="E76F51"/>
                </a:solidFill>
              </a:defRPr>
            </a:pPr>
            <a:r>
              <a:rPr sz="1875" b="1">
                <a:solidFill>
                  <a:srgbClr val="E76F51"/>
                </a:solidFill>
              </a:rPr>
              <a:t>Decision requested today: approve pilot ownership, broker participants and measurement discipline.</a:t>
            </a:r>
          </a:p>
        </p:txBody>
      </p:sp>
    </p:spTree>
    <p:extLst>
      <p:ext uri="{BB962C8B-B14F-4D97-AF65-F5344CB8AC3E}">
        <p14:creationId xmlns:p14="http://schemas.microsoft.com/office/powerpoint/2010/main" val="1621312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Typical estimates are close, but uncommon expensive shipments still create large misses.</a:t>
            </a:r>
          </a:p>
        </p:txBody>
      </p:sp>
      <p:sp>
        <p:nvSpPr>
          <p:cNvPr id="3" name="story-role">
            <a:extLst>
              <a:ext uri="{FF2B5EF4-FFF2-40B4-BE49-F238E27FC236}">
                <a16:creationId xmlns:a16="http://schemas.microsoft.com/office/drawing/2014/main" id="{8568E8AD-A0AC-4EF3-BCBF-D51C9BE99C82}"/>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APPENDIX</a:t>
            </a:r>
          </a:p>
        </p:txBody>
      </p:sp>
      <p:graphicFrame>
        <p:nvGraphicFramePr>
          <p:cNvPr id="12" name="Chart"/>
          <p:cNvGraphicFramePr/>
          <p:nvPr/>
        </p:nvGraphicFramePr>
        <p:xfrm>
          <a:off x="819150" y="2095500"/>
          <a:ext cx="6858000" cy="3333750"/>
        </p:xfrm>
        <a:graphic>
          <a:graphicData uri="http://schemas.openxmlformats.org/drawingml/2006/chart">
            <c:chart xmlns:c="http://schemas.openxmlformats.org/drawingml/2006/chart" xmlns:r="http://schemas.openxmlformats.org/officeDocument/2006/relationships" r:id="rId3"/>
          </a:graphicData>
        </a:graphic>
      </p:graphicFrame>
      <p:sp>
        <p:nvSpPr>
          <p:cNvPr id="5" name="limitation-box">
            <a:extLst>
              <a:ext uri="{FF2B5EF4-FFF2-40B4-BE49-F238E27FC236}">
                <a16:creationId xmlns:a16="http://schemas.microsoft.com/office/drawing/2014/main" id="{A65B14B3-5DF4-4AEE-890A-EA9AECEF2034}"/>
              </a:ext>
            </a:extLst>
          </p:cNvPr>
          <p:cNvSpPr>
            <a:spLocks noGrp="1"/>
          </p:cNvSpPr>
          <p:nvPr/>
        </p:nvSpPr>
        <p:spPr>
          <a:xfrm>
            <a:off x="8096250" y="2286000"/>
            <a:ext cx="3143250" cy="3000375"/>
          </a:xfrm>
          <a:prstGeom prst="roundRect">
            <a:avLst>
              <a:gd name="adj" fmla="val 3810"/>
            </a:avLst>
          </a:prstGeom>
          <a:solidFill>
            <a:srgbClr val="FFF9E8"/>
          </a:solidFill>
          <a:ln w="9525">
            <a:solidFill>
              <a:srgbClr val="E9C46A"/>
            </a:solidFill>
            <a:prstDash val="solid"/>
          </a:ln>
        </p:spPr>
        <p:txBody>
          <a:bodyPr/>
          <a:lstStyle/>
          <a:p>
            <a:endParaRPr lang="en-US"/>
          </a:p>
        </p:txBody>
      </p:sp>
      <p:sp>
        <p:nvSpPr>
          <p:cNvPr id="6" name="text">
            <a:extLst>
              <a:ext uri="{FF2B5EF4-FFF2-40B4-BE49-F238E27FC236}">
                <a16:creationId xmlns:a16="http://schemas.microsoft.com/office/drawing/2014/main" id="{8FD624AB-ECFA-4472-9322-5A55B6256165}"/>
              </a:ext>
            </a:extLst>
          </p:cNvPr>
          <p:cNvSpPr>
            <a:spLocks noGrp="1"/>
          </p:cNvSpPr>
          <p:nvPr/>
        </p:nvSpPr>
        <p:spPr>
          <a:xfrm>
            <a:off x="8382000" y="2571750"/>
            <a:ext cx="2571750" cy="323850"/>
          </a:xfrm>
          <a:prstGeom prst="rect">
            <a:avLst/>
          </a:prstGeom>
          <a:noFill/>
          <a:ln w="0">
            <a:noFill/>
            <a:prstDash val="solid"/>
          </a:ln>
        </p:spPr>
        <p:txBody>
          <a:bodyPr/>
          <a:lstStyle/>
          <a:p>
            <a:pPr>
              <a:buNone/>
              <a:defRPr sz="1350" b="1">
                <a:solidFill>
                  <a:srgbClr val="9A6B00"/>
                </a:solidFill>
              </a:defRPr>
            </a:pPr>
            <a:r>
              <a:rPr sz="1350" b="1">
                <a:solidFill>
                  <a:srgbClr val="9A6B00"/>
                </a:solidFill>
              </a:rPr>
              <a:t>HONEST LIMITATION</a:t>
            </a:r>
          </a:p>
        </p:txBody>
      </p:sp>
      <p:sp>
        <p:nvSpPr>
          <p:cNvPr id="7" name="text">
            <a:extLst>
              <a:ext uri="{FF2B5EF4-FFF2-40B4-BE49-F238E27FC236}">
                <a16:creationId xmlns:a16="http://schemas.microsoft.com/office/drawing/2014/main" id="{3E8D66DA-1CD3-42FC-8729-29E5F6C01AD3}"/>
              </a:ext>
            </a:extLst>
          </p:cNvPr>
          <p:cNvSpPr>
            <a:spLocks noGrp="1"/>
          </p:cNvSpPr>
          <p:nvPr/>
        </p:nvSpPr>
        <p:spPr>
          <a:xfrm>
            <a:off x="8382000" y="3048000"/>
            <a:ext cx="2571750" cy="1190625"/>
          </a:xfrm>
          <a:prstGeom prst="rect">
            <a:avLst/>
          </a:prstGeom>
          <a:noFill/>
          <a:ln w="0">
            <a:noFill/>
            <a:prstDash val="solid"/>
          </a:ln>
        </p:spPr>
        <p:txBody>
          <a:bodyPr/>
          <a:lstStyle/>
          <a:p>
            <a:pPr>
              <a:buNone/>
              <a:defRPr sz="1800" b="1">
                <a:solidFill>
                  <a:srgbClr val="373545"/>
                </a:solidFill>
              </a:defRPr>
            </a:pPr>
            <a:r>
              <a:rPr sz="1800" b="1">
                <a:solidFill>
                  <a:srgbClr val="373545"/>
                </a:solidFill>
              </a:rPr>
              <a:t>The tool performs much better on routine shipments than on rare, high-cost cases.</a:t>
            </a:r>
          </a:p>
        </p:txBody>
      </p:sp>
      <p:sp>
        <p:nvSpPr>
          <p:cNvPr id="8" name="text">
            <a:extLst>
              <a:ext uri="{FF2B5EF4-FFF2-40B4-BE49-F238E27FC236}">
                <a16:creationId xmlns:a16="http://schemas.microsoft.com/office/drawing/2014/main" id="{558B8FBB-DCCC-4A82-A694-F4FE7215BF71}"/>
              </a:ext>
            </a:extLst>
          </p:cNvPr>
          <p:cNvSpPr>
            <a:spLocks noGrp="1"/>
          </p:cNvSpPr>
          <p:nvPr/>
        </p:nvSpPr>
        <p:spPr>
          <a:xfrm>
            <a:off x="8382000" y="4429125"/>
            <a:ext cx="2571750" cy="619125"/>
          </a:xfrm>
          <a:prstGeom prst="rect">
            <a:avLst/>
          </a:prstGeom>
          <a:noFill/>
          <a:ln w="0">
            <a:noFill/>
            <a:prstDash val="solid"/>
          </a:ln>
        </p:spPr>
        <p:txBody>
          <a:bodyPr/>
          <a:lstStyle/>
          <a:p>
            <a:pPr>
              <a:buNone/>
              <a:defRPr sz="1425">
                <a:solidFill>
                  <a:srgbClr val="6B7280"/>
                </a:solidFill>
              </a:defRPr>
            </a:pPr>
            <a:r>
              <a:rPr sz="1425">
                <a:solidFill>
                  <a:srgbClr val="6B7280"/>
                </a:solidFill>
              </a:rPr>
              <a:t>That is why the operating design includes a range and a human-review path.</a:t>
            </a:r>
          </a:p>
        </p:txBody>
      </p:sp>
    </p:spTree>
    <p:extLst>
      <p:ext uri="{BB962C8B-B14F-4D97-AF65-F5344CB8AC3E}">
        <p14:creationId xmlns:p14="http://schemas.microsoft.com/office/powerpoint/2010/main" val="16213122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Brokers can use the tool for routine quotes and escalate wide or unusual cases for review.</a:t>
            </a:r>
          </a:p>
        </p:txBody>
      </p:sp>
      <p:sp>
        <p:nvSpPr>
          <p:cNvPr id="3" name="story-role">
            <a:extLst>
              <a:ext uri="{FF2B5EF4-FFF2-40B4-BE49-F238E27FC236}">
                <a16:creationId xmlns:a16="http://schemas.microsoft.com/office/drawing/2014/main" id="{A6021D23-107B-4B4A-8CCF-9644D2C81DC0}"/>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APPENDIX</a:t>
            </a:r>
          </a:p>
        </p:txBody>
      </p:sp>
      <p:sp>
        <p:nvSpPr>
          <p:cNvPr id="4" name="guardrail-arrow">
            <a:extLst>
              <a:ext uri="{FF2B5EF4-FFF2-40B4-BE49-F238E27FC236}">
                <a16:creationId xmlns:a16="http://schemas.microsoft.com/office/drawing/2014/main" id="{BF111678-23A9-4A53-9B80-A63E5540238D}"/>
              </a:ext>
            </a:extLst>
          </p:cNvPr>
          <p:cNvSpPr>
            <a:spLocks noGrp="1"/>
          </p:cNvSpPr>
          <p:nvPr/>
        </p:nvSpPr>
        <p:spPr>
          <a:xfrm>
            <a:off x="5572125" y="3476625"/>
            <a:ext cx="1047750" cy="476250"/>
          </a:xfrm>
          <a:prstGeom prst="rightArrow">
            <a:avLst/>
          </a:prstGeom>
          <a:solidFill>
            <a:srgbClr val="EAF3F5"/>
          </a:solidFill>
          <a:ln w="9525">
            <a:solidFill>
              <a:srgbClr val="58B6C0"/>
            </a:solidFill>
            <a:prstDash val="solid"/>
          </a:ln>
        </p:spPr>
        <p:txBody>
          <a:bodyPr/>
          <a:lstStyle/>
          <a:p>
            <a:endParaRPr lang="en-US"/>
          </a:p>
        </p:txBody>
      </p:sp>
      <p:sp>
        <p:nvSpPr>
          <p:cNvPr id="5" name="routine-box">
            <a:extLst>
              <a:ext uri="{FF2B5EF4-FFF2-40B4-BE49-F238E27FC236}">
                <a16:creationId xmlns:a16="http://schemas.microsoft.com/office/drawing/2014/main" id="{7490BC39-B850-4614-A0D9-78C7F2BB3E81}"/>
              </a:ext>
            </a:extLst>
          </p:cNvPr>
          <p:cNvSpPr>
            <a:spLocks noGrp="1"/>
          </p:cNvSpPr>
          <p:nvPr/>
        </p:nvSpPr>
        <p:spPr>
          <a:xfrm>
            <a:off x="1000125" y="2143125"/>
            <a:ext cx="4286250" cy="3143250"/>
          </a:xfrm>
          <a:prstGeom prst="roundRect">
            <a:avLst>
              <a:gd name="adj" fmla="val 3636"/>
            </a:avLst>
          </a:prstGeom>
          <a:solidFill>
            <a:srgbClr val="EDF8F3"/>
          </a:solidFill>
          <a:ln w="9525">
            <a:solidFill>
              <a:srgbClr val="4E9F7E"/>
            </a:solidFill>
            <a:prstDash val="solid"/>
          </a:ln>
        </p:spPr>
        <p:txBody>
          <a:bodyPr/>
          <a:lstStyle/>
          <a:p>
            <a:endParaRPr lang="en-US"/>
          </a:p>
        </p:txBody>
      </p:sp>
      <p:sp>
        <p:nvSpPr>
          <p:cNvPr id="6" name="text">
            <a:extLst>
              <a:ext uri="{FF2B5EF4-FFF2-40B4-BE49-F238E27FC236}">
                <a16:creationId xmlns:a16="http://schemas.microsoft.com/office/drawing/2014/main" id="{BB05512B-3F86-4F26-A56E-8045AC5E95ED}"/>
              </a:ext>
            </a:extLst>
          </p:cNvPr>
          <p:cNvSpPr>
            <a:spLocks noGrp="1"/>
          </p:cNvSpPr>
          <p:nvPr/>
        </p:nvSpPr>
        <p:spPr>
          <a:xfrm>
            <a:off x="1381125" y="2524125"/>
            <a:ext cx="3524250" cy="381000"/>
          </a:xfrm>
          <a:prstGeom prst="rect">
            <a:avLst/>
          </a:prstGeom>
          <a:noFill/>
          <a:ln w="0">
            <a:noFill/>
            <a:prstDash val="solid"/>
          </a:ln>
        </p:spPr>
        <p:txBody>
          <a:bodyPr/>
          <a:lstStyle/>
          <a:p>
            <a:pPr algn="ctr">
              <a:buNone/>
              <a:defRPr sz="1725" b="1">
                <a:solidFill>
                  <a:srgbClr val="4E9F7E"/>
                </a:solidFill>
              </a:defRPr>
            </a:pPr>
            <a:r>
              <a:rPr sz="1725" b="1">
                <a:solidFill>
                  <a:srgbClr val="4E9F7E"/>
                </a:solidFill>
              </a:rPr>
              <a:t>USE THE RANGE</a:t>
            </a:r>
          </a:p>
        </p:txBody>
      </p:sp>
      <p:sp>
        <p:nvSpPr>
          <p:cNvPr id="7" name="text">
            <a:extLst>
              <a:ext uri="{FF2B5EF4-FFF2-40B4-BE49-F238E27FC236}">
                <a16:creationId xmlns:a16="http://schemas.microsoft.com/office/drawing/2014/main" id="{4C6B48AC-B200-4C29-B76D-932C289AC96E}"/>
              </a:ext>
            </a:extLst>
          </p:cNvPr>
          <p:cNvSpPr>
            <a:spLocks noGrp="1"/>
          </p:cNvSpPr>
          <p:nvPr/>
        </p:nvSpPr>
        <p:spPr>
          <a:xfrm>
            <a:off x="1476375" y="3190875"/>
            <a:ext cx="3333750" cy="1428750"/>
          </a:xfrm>
          <a:prstGeom prst="rect">
            <a:avLst/>
          </a:prstGeom>
          <a:noFill/>
          <a:ln w="0">
            <a:noFill/>
            <a:prstDash val="solid"/>
          </a:ln>
        </p:spPr>
        <p:txBody>
          <a:bodyPr/>
          <a:lstStyle/>
          <a:p>
            <a:pPr algn="ctr">
              <a:buNone/>
              <a:defRPr sz="1875">
                <a:solidFill>
                  <a:srgbClr val="373545"/>
                </a:solidFill>
              </a:defRPr>
            </a:pPr>
            <a:r>
              <a:rPr sz="1875">
                <a:solidFill>
                  <a:srgbClr val="373545"/>
                </a:solidFill>
              </a:rPr>
              <a:t>Routine mode and route</a:t>
            </a:r>
          </a:p>
          <a:p>
            <a:pPr algn="ctr">
              <a:buNone/>
              <a:defRPr sz="1875">
                <a:solidFill>
                  <a:srgbClr val="373545"/>
                </a:solidFill>
              </a:defRPr>
            </a:pPr>
            <a:r>
              <a:rPr sz="1875">
                <a:solidFill>
                  <a:srgbClr val="373545"/>
                </a:solidFill>
              </a:rPr>
              <a:t>Complete quote-time inputs</a:t>
            </a:r>
          </a:p>
          <a:p>
            <a:pPr algn="ctr">
              <a:buNone/>
              <a:defRPr sz="1875">
                <a:solidFill>
                  <a:srgbClr val="373545"/>
                </a:solidFill>
              </a:defRPr>
            </a:pPr>
            <a:r>
              <a:rPr sz="1875">
                <a:solidFill>
                  <a:srgbClr val="373545"/>
                </a:solidFill>
              </a:rPr>
              <a:t>Range is commercially usable</a:t>
            </a:r>
          </a:p>
          <a:p>
            <a:pPr algn="ctr">
              <a:buNone/>
              <a:defRPr sz="1875">
                <a:solidFill>
                  <a:srgbClr val="373545"/>
                </a:solidFill>
              </a:defRPr>
            </a:pPr>
            <a:r>
              <a:rPr sz="1875">
                <a:solidFill>
                  <a:srgbClr val="373545"/>
                </a:solidFill>
              </a:rPr>
              <a:t>No unusual services or surcharges</a:t>
            </a:r>
          </a:p>
        </p:txBody>
      </p:sp>
      <p:sp>
        <p:nvSpPr>
          <p:cNvPr id="8" name="review-box">
            <a:extLst>
              <a:ext uri="{FF2B5EF4-FFF2-40B4-BE49-F238E27FC236}">
                <a16:creationId xmlns:a16="http://schemas.microsoft.com/office/drawing/2014/main" id="{B932CE35-CBD5-4003-91F8-AADA95DFDB69}"/>
              </a:ext>
            </a:extLst>
          </p:cNvPr>
          <p:cNvSpPr>
            <a:spLocks noGrp="1"/>
          </p:cNvSpPr>
          <p:nvPr/>
        </p:nvSpPr>
        <p:spPr>
          <a:xfrm>
            <a:off x="6905625" y="2143125"/>
            <a:ext cx="4286250" cy="3143250"/>
          </a:xfrm>
          <a:prstGeom prst="roundRect">
            <a:avLst>
              <a:gd name="adj" fmla="val 3636"/>
            </a:avLst>
          </a:prstGeom>
          <a:solidFill>
            <a:srgbClr val="FFF7E6"/>
          </a:solidFill>
          <a:ln w="9525">
            <a:solidFill>
              <a:srgbClr val="E9C46A"/>
            </a:solidFill>
            <a:prstDash val="solid"/>
          </a:ln>
        </p:spPr>
        <p:txBody>
          <a:bodyPr/>
          <a:lstStyle/>
          <a:p>
            <a:endParaRPr lang="en-US"/>
          </a:p>
        </p:txBody>
      </p:sp>
      <p:sp>
        <p:nvSpPr>
          <p:cNvPr id="9" name="text">
            <a:extLst>
              <a:ext uri="{FF2B5EF4-FFF2-40B4-BE49-F238E27FC236}">
                <a16:creationId xmlns:a16="http://schemas.microsoft.com/office/drawing/2014/main" id="{84E229D6-5011-4D7A-93A2-A9D8C2793584}"/>
              </a:ext>
            </a:extLst>
          </p:cNvPr>
          <p:cNvSpPr>
            <a:spLocks noGrp="1"/>
          </p:cNvSpPr>
          <p:nvPr/>
        </p:nvSpPr>
        <p:spPr>
          <a:xfrm>
            <a:off x="7286625" y="2524125"/>
            <a:ext cx="3524250" cy="381000"/>
          </a:xfrm>
          <a:prstGeom prst="rect">
            <a:avLst/>
          </a:prstGeom>
          <a:noFill/>
          <a:ln w="0">
            <a:noFill/>
            <a:prstDash val="solid"/>
          </a:ln>
        </p:spPr>
        <p:txBody>
          <a:bodyPr/>
          <a:lstStyle/>
          <a:p>
            <a:pPr algn="ctr">
              <a:buNone/>
              <a:defRPr sz="1725" b="1">
                <a:solidFill>
                  <a:srgbClr val="9A6B00"/>
                </a:solidFill>
              </a:defRPr>
            </a:pPr>
            <a:r>
              <a:rPr sz="1725" b="1">
                <a:solidFill>
                  <a:srgbClr val="9A6B00"/>
                </a:solidFill>
              </a:rPr>
              <a:t>HUMAN REVIEW</a:t>
            </a:r>
          </a:p>
        </p:txBody>
      </p:sp>
      <p:sp>
        <p:nvSpPr>
          <p:cNvPr id="10" name="text">
            <a:extLst>
              <a:ext uri="{FF2B5EF4-FFF2-40B4-BE49-F238E27FC236}">
                <a16:creationId xmlns:a16="http://schemas.microsoft.com/office/drawing/2014/main" id="{66074EE2-3151-4BAC-97AF-E3B77892D900}"/>
              </a:ext>
            </a:extLst>
          </p:cNvPr>
          <p:cNvSpPr>
            <a:spLocks noGrp="1"/>
          </p:cNvSpPr>
          <p:nvPr/>
        </p:nvSpPr>
        <p:spPr>
          <a:xfrm>
            <a:off x="7381875" y="3190875"/>
            <a:ext cx="3333750" cy="1428750"/>
          </a:xfrm>
          <a:prstGeom prst="rect">
            <a:avLst/>
          </a:prstGeom>
          <a:noFill/>
          <a:ln w="0">
            <a:noFill/>
            <a:prstDash val="solid"/>
          </a:ln>
        </p:spPr>
        <p:txBody>
          <a:bodyPr/>
          <a:lstStyle/>
          <a:p>
            <a:pPr algn="ctr">
              <a:buNone/>
              <a:defRPr sz="1875">
                <a:solidFill>
                  <a:srgbClr val="373545"/>
                </a:solidFill>
              </a:defRPr>
            </a:pPr>
            <a:r>
              <a:rPr sz="1875">
                <a:solidFill>
                  <a:srgbClr val="373545"/>
                </a:solidFill>
              </a:rPr>
              <a:t>Rare or unfamiliar route</a:t>
            </a:r>
          </a:p>
          <a:p>
            <a:pPr algn="ctr">
              <a:buNone/>
              <a:defRPr sz="1875">
                <a:solidFill>
                  <a:srgbClr val="373545"/>
                </a:solidFill>
              </a:defRPr>
            </a:pPr>
            <a:r>
              <a:rPr sz="1875">
                <a:solidFill>
                  <a:srgbClr val="373545"/>
                </a:solidFill>
              </a:rPr>
              <a:t>High-value shipment</a:t>
            </a:r>
          </a:p>
          <a:p>
            <a:pPr algn="ctr">
              <a:buNone/>
              <a:defRPr sz="1875">
                <a:solidFill>
                  <a:srgbClr val="373545"/>
                </a:solidFill>
              </a:defRPr>
            </a:pPr>
            <a:r>
              <a:rPr sz="1875">
                <a:solidFill>
                  <a:srgbClr val="373545"/>
                </a:solidFill>
              </a:rPr>
              <a:t>Missing critical information</a:t>
            </a:r>
          </a:p>
          <a:p>
            <a:pPr algn="ctr">
              <a:buNone/>
              <a:defRPr sz="1875">
                <a:solidFill>
                  <a:srgbClr val="373545"/>
                </a:solidFill>
              </a:defRPr>
            </a:pPr>
            <a:r>
              <a:rPr sz="1875">
                <a:solidFill>
                  <a:srgbClr val="373545"/>
                </a:solidFill>
              </a:rPr>
              <a:t>Range is too wide to support a quote</a:t>
            </a:r>
          </a:p>
        </p:txBody>
      </p:sp>
      <p:sp>
        <p:nvSpPr>
          <p:cNvPr id="11" name="text">
            <a:extLst>
              <a:ext uri="{FF2B5EF4-FFF2-40B4-BE49-F238E27FC236}">
                <a16:creationId xmlns:a16="http://schemas.microsoft.com/office/drawing/2014/main" id="{59E6DDAC-5F3A-4542-9930-37F9B14D2EB3}"/>
              </a:ext>
            </a:extLst>
          </p:cNvPr>
          <p:cNvSpPr>
            <a:spLocks noGrp="1"/>
          </p:cNvSpPr>
          <p:nvPr/>
        </p:nvSpPr>
        <p:spPr>
          <a:xfrm>
            <a:off x="2619375" y="5619750"/>
            <a:ext cx="6953250" cy="361950"/>
          </a:xfrm>
          <a:prstGeom prst="rect">
            <a:avLst/>
          </a:prstGeom>
          <a:noFill/>
          <a:ln w="0">
            <a:noFill/>
            <a:prstDash val="solid"/>
          </a:ln>
        </p:spPr>
        <p:txBody>
          <a:bodyPr/>
          <a:lstStyle/>
          <a:p>
            <a:pPr algn="ctr">
              <a:buNone/>
              <a:defRPr sz="1950" b="1">
                <a:solidFill>
                  <a:srgbClr val="173F5F"/>
                </a:solidFill>
              </a:defRPr>
            </a:pPr>
            <a:r>
              <a:rPr sz="1950" b="1">
                <a:solidFill>
                  <a:srgbClr val="173F5F"/>
                </a:solidFill>
              </a:rPr>
              <a:t>The tool supports broker judgment; it does not replace it.</a:t>
            </a:r>
          </a:p>
        </p:txBody>
      </p:sp>
    </p:spTree>
    <p:extLst>
      <p:ext uri="{BB962C8B-B14F-4D97-AF65-F5344CB8AC3E}">
        <p14:creationId xmlns:p14="http://schemas.microsoft.com/office/powerpoint/2010/main" val="1621312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C5B0F-A2B9-41E1-7BEB-083D397A3F5F}"/>
              </a:ext>
            </a:extLst>
          </p:cNvPr>
          <p:cNvSpPr>
            <a:spLocks noGrp="1"/>
          </p:cNvSpPr>
          <p:nvPr>
            <p:ph type="title"/>
          </p:nvPr>
        </p:nvSpPr>
        <p:spPr>
          <a:xfrm>
            <a:off x="742950" y="457200"/>
            <a:ext cx="10706100" cy="1143000"/>
          </a:xfrm>
        </p:spPr>
        <p:txBody>
          <a:bodyPr>
            <a:normAutofit/>
          </a:bodyPr>
          <a:lstStyle/>
          <a:p>
            <a:pPr algn="l">
              <a:buNone/>
              <a:defRPr sz="3000">
                <a:solidFill>
                  <a:srgbClr val="373545"/>
                </a:solidFill>
              </a:defRPr>
            </a:pPr>
            <a:r>
              <a:rPr sz="3000">
                <a:solidFill>
                  <a:srgbClr val="373545"/>
                </a:solidFill>
              </a:rPr>
              <a:t>The evaluation used finalized historical costs and preserved time order to simulate future quotes.</a:t>
            </a:r>
          </a:p>
        </p:txBody>
      </p:sp>
      <p:sp>
        <p:nvSpPr>
          <p:cNvPr id="3" name="story-role">
            <a:extLst>
              <a:ext uri="{FF2B5EF4-FFF2-40B4-BE49-F238E27FC236}">
                <a16:creationId xmlns:a16="http://schemas.microsoft.com/office/drawing/2014/main" id="{648ADFFA-D925-47DE-AE0C-128B96884B47}"/>
              </a:ext>
            </a:extLst>
          </p:cNvPr>
          <p:cNvSpPr>
            <a:spLocks noGrp="1"/>
          </p:cNvSpPr>
          <p:nvPr/>
        </p:nvSpPr>
        <p:spPr>
          <a:xfrm>
            <a:off x="781050" y="171450"/>
            <a:ext cx="2476500" cy="228600"/>
          </a:xfrm>
          <a:prstGeom prst="rect">
            <a:avLst/>
          </a:prstGeom>
          <a:noFill/>
          <a:ln w="0">
            <a:noFill/>
            <a:prstDash val="solid"/>
          </a:ln>
        </p:spPr>
        <p:txBody>
          <a:bodyPr/>
          <a:lstStyle/>
          <a:p>
            <a:pPr>
              <a:buNone/>
              <a:defRPr sz="1050" b="1">
                <a:solidFill>
                  <a:srgbClr val="3494BA"/>
                </a:solidFill>
              </a:defRPr>
            </a:pPr>
            <a:r>
              <a:rPr sz="1050" b="1">
                <a:solidFill>
                  <a:srgbClr val="3494BA"/>
                </a:solidFill>
              </a:rPr>
              <a:t>APPENDIX</a:t>
            </a:r>
          </a:p>
        </p:txBody>
      </p:sp>
      <p:sp>
        <p:nvSpPr>
          <p:cNvPr id="4" name="metric-raw shipment records">
            <a:extLst>
              <a:ext uri="{FF2B5EF4-FFF2-40B4-BE49-F238E27FC236}">
                <a16:creationId xmlns:a16="http://schemas.microsoft.com/office/drawing/2014/main" id="{7BB7748E-832F-4C87-B729-F7B74CDFD97B}"/>
              </a:ext>
            </a:extLst>
          </p:cNvPr>
          <p:cNvSpPr>
            <a:spLocks noGrp="1"/>
          </p:cNvSpPr>
          <p:nvPr/>
        </p:nvSpPr>
        <p:spPr>
          <a:xfrm>
            <a:off x="1143000" y="2476500"/>
            <a:ext cx="2667000" cy="742950"/>
          </a:xfrm>
          <a:prstGeom prst="rect">
            <a:avLst/>
          </a:prstGeom>
          <a:noFill/>
          <a:ln w="0">
            <a:noFill/>
            <a:prstDash val="solid"/>
          </a:ln>
        </p:spPr>
        <p:txBody>
          <a:bodyPr/>
          <a:lstStyle/>
          <a:p>
            <a:pPr algn="ctr">
              <a:buNone/>
              <a:defRPr sz="3750" b="1">
                <a:solidFill>
                  <a:srgbClr val="173F5F"/>
                </a:solidFill>
              </a:defRPr>
            </a:pPr>
            <a:r>
              <a:rPr sz="3750" b="1">
                <a:solidFill>
                  <a:srgbClr val="173F5F"/>
                </a:solidFill>
              </a:rPr>
              <a:t>9,720</a:t>
            </a:r>
          </a:p>
        </p:txBody>
      </p:sp>
      <p:sp>
        <p:nvSpPr>
          <p:cNvPr id="5" name="metric-label-raw shipment records">
            <a:extLst>
              <a:ext uri="{FF2B5EF4-FFF2-40B4-BE49-F238E27FC236}">
                <a16:creationId xmlns:a16="http://schemas.microsoft.com/office/drawing/2014/main" id="{78F90676-5415-4EFB-86FB-31A5C1809FE5}"/>
              </a:ext>
            </a:extLst>
          </p:cNvPr>
          <p:cNvSpPr>
            <a:spLocks noGrp="1"/>
          </p:cNvSpPr>
          <p:nvPr/>
        </p:nvSpPr>
        <p:spPr>
          <a:xfrm>
            <a:off x="1143000" y="3238500"/>
            <a:ext cx="2667000" cy="571500"/>
          </a:xfrm>
          <a:prstGeom prst="rect">
            <a:avLst/>
          </a:prstGeom>
          <a:noFill/>
          <a:ln w="0">
            <a:noFill/>
            <a:prstDash val="solid"/>
          </a:ln>
        </p:spPr>
        <p:txBody>
          <a:bodyPr/>
          <a:lstStyle/>
          <a:p>
            <a:pPr algn="ctr">
              <a:buNone/>
              <a:defRPr sz="1500">
                <a:solidFill>
                  <a:srgbClr val="6B7280"/>
                </a:solidFill>
              </a:defRPr>
            </a:pPr>
            <a:r>
              <a:rPr sz="1500">
                <a:solidFill>
                  <a:srgbClr val="6B7280"/>
                </a:solidFill>
              </a:rPr>
              <a:t>raw shipment records</a:t>
            </a:r>
          </a:p>
        </p:txBody>
      </p:sp>
      <p:sp>
        <p:nvSpPr>
          <p:cNvPr id="6" name="metric-eligible finalized shipments">
            <a:extLst>
              <a:ext uri="{FF2B5EF4-FFF2-40B4-BE49-F238E27FC236}">
                <a16:creationId xmlns:a16="http://schemas.microsoft.com/office/drawing/2014/main" id="{EB966BD2-5135-4C23-9ED1-E8F2A6DBE287}"/>
              </a:ext>
            </a:extLst>
          </p:cNvPr>
          <p:cNvSpPr>
            <a:spLocks noGrp="1"/>
          </p:cNvSpPr>
          <p:nvPr/>
        </p:nvSpPr>
        <p:spPr>
          <a:xfrm>
            <a:off x="4762500" y="2476500"/>
            <a:ext cx="2667000" cy="742950"/>
          </a:xfrm>
          <a:prstGeom prst="rect">
            <a:avLst/>
          </a:prstGeom>
          <a:noFill/>
          <a:ln w="0">
            <a:noFill/>
            <a:prstDash val="solid"/>
          </a:ln>
        </p:spPr>
        <p:txBody>
          <a:bodyPr/>
          <a:lstStyle/>
          <a:p>
            <a:pPr algn="ctr">
              <a:buNone/>
              <a:defRPr sz="3750" b="1">
                <a:solidFill>
                  <a:srgbClr val="2A9D8F"/>
                </a:solidFill>
              </a:defRPr>
            </a:pPr>
            <a:r>
              <a:rPr sz="3750" b="1">
                <a:solidFill>
                  <a:srgbClr val="2A9D8F"/>
                </a:solidFill>
              </a:rPr>
              <a:t>7,167</a:t>
            </a:r>
          </a:p>
        </p:txBody>
      </p:sp>
      <p:sp>
        <p:nvSpPr>
          <p:cNvPr id="7" name="metric-label-eligible finalized shipments">
            <a:extLst>
              <a:ext uri="{FF2B5EF4-FFF2-40B4-BE49-F238E27FC236}">
                <a16:creationId xmlns:a16="http://schemas.microsoft.com/office/drawing/2014/main" id="{B22CF63D-2416-4CD1-B18C-3670E893704D}"/>
              </a:ext>
            </a:extLst>
          </p:cNvPr>
          <p:cNvSpPr>
            <a:spLocks noGrp="1"/>
          </p:cNvSpPr>
          <p:nvPr/>
        </p:nvSpPr>
        <p:spPr>
          <a:xfrm>
            <a:off x="4762500" y="3238500"/>
            <a:ext cx="2667000" cy="571500"/>
          </a:xfrm>
          <a:prstGeom prst="rect">
            <a:avLst/>
          </a:prstGeom>
          <a:noFill/>
          <a:ln w="0">
            <a:noFill/>
            <a:prstDash val="solid"/>
          </a:ln>
        </p:spPr>
        <p:txBody>
          <a:bodyPr/>
          <a:lstStyle/>
          <a:p>
            <a:pPr algn="ctr">
              <a:buNone/>
              <a:defRPr sz="1500">
                <a:solidFill>
                  <a:srgbClr val="6B7280"/>
                </a:solidFill>
              </a:defRPr>
            </a:pPr>
            <a:r>
              <a:rPr sz="1500">
                <a:solidFill>
                  <a:srgbClr val="6B7280"/>
                </a:solidFill>
              </a:rPr>
              <a:t>eligible finalized shipments</a:t>
            </a:r>
          </a:p>
        </p:txBody>
      </p:sp>
      <p:sp>
        <p:nvSpPr>
          <p:cNvPr id="8" name="metric-chronological partitions">
            <a:extLst>
              <a:ext uri="{FF2B5EF4-FFF2-40B4-BE49-F238E27FC236}">
                <a16:creationId xmlns:a16="http://schemas.microsoft.com/office/drawing/2014/main" id="{81000D6D-F80C-4214-9958-7C2F6F39D816}"/>
              </a:ext>
            </a:extLst>
          </p:cNvPr>
          <p:cNvSpPr>
            <a:spLocks noGrp="1"/>
          </p:cNvSpPr>
          <p:nvPr/>
        </p:nvSpPr>
        <p:spPr>
          <a:xfrm>
            <a:off x="8382000" y="2476500"/>
            <a:ext cx="2667000" cy="742950"/>
          </a:xfrm>
          <a:prstGeom prst="rect">
            <a:avLst/>
          </a:prstGeom>
          <a:noFill/>
          <a:ln w="0">
            <a:noFill/>
            <a:prstDash val="solid"/>
          </a:ln>
        </p:spPr>
        <p:txBody>
          <a:bodyPr/>
          <a:lstStyle/>
          <a:p>
            <a:pPr algn="ctr">
              <a:buNone/>
              <a:defRPr sz="3750" b="1">
                <a:solidFill>
                  <a:srgbClr val="3494BA"/>
                </a:solidFill>
              </a:defRPr>
            </a:pPr>
            <a:r>
              <a:rPr sz="3750" b="1">
                <a:solidFill>
                  <a:srgbClr val="3494BA"/>
                </a:solidFill>
              </a:rPr>
              <a:t>4</a:t>
            </a:r>
          </a:p>
        </p:txBody>
      </p:sp>
      <p:sp>
        <p:nvSpPr>
          <p:cNvPr id="9" name="metric-label-chronological partitions">
            <a:extLst>
              <a:ext uri="{FF2B5EF4-FFF2-40B4-BE49-F238E27FC236}">
                <a16:creationId xmlns:a16="http://schemas.microsoft.com/office/drawing/2014/main" id="{0E97D811-F7A6-490B-AE29-FDC62FD77A33}"/>
              </a:ext>
            </a:extLst>
          </p:cNvPr>
          <p:cNvSpPr>
            <a:spLocks noGrp="1"/>
          </p:cNvSpPr>
          <p:nvPr/>
        </p:nvSpPr>
        <p:spPr>
          <a:xfrm>
            <a:off x="8382000" y="3238500"/>
            <a:ext cx="2667000" cy="571500"/>
          </a:xfrm>
          <a:prstGeom prst="rect">
            <a:avLst/>
          </a:prstGeom>
          <a:noFill/>
          <a:ln w="0">
            <a:noFill/>
            <a:prstDash val="solid"/>
          </a:ln>
        </p:spPr>
        <p:txBody>
          <a:bodyPr/>
          <a:lstStyle/>
          <a:p>
            <a:pPr algn="ctr">
              <a:buNone/>
              <a:defRPr sz="1500">
                <a:solidFill>
                  <a:srgbClr val="6B7280"/>
                </a:solidFill>
              </a:defRPr>
            </a:pPr>
            <a:r>
              <a:rPr sz="1500">
                <a:solidFill>
                  <a:srgbClr val="6B7280"/>
                </a:solidFill>
              </a:rPr>
              <a:t>chronological partitions</a:t>
            </a:r>
          </a:p>
        </p:txBody>
      </p:sp>
      <p:sp>
        <p:nvSpPr>
          <p:cNvPr id="10" name="text">
            <a:extLst>
              <a:ext uri="{FF2B5EF4-FFF2-40B4-BE49-F238E27FC236}">
                <a16:creationId xmlns:a16="http://schemas.microsoft.com/office/drawing/2014/main" id="{B05CAE67-926D-41E7-B4EA-A0BBCBE08A68}"/>
              </a:ext>
            </a:extLst>
          </p:cNvPr>
          <p:cNvSpPr>
            <a:spLocks noGrp="1"/>
          </p:cNvSpPr>
          <p:nvPr/>
        </p:nvSpPr>
        <p:spPr>
          <a:xfrm>
            <a:off x="1143000" y="4429125"/>
            <a:ext cx="2381250" cy="304800"/>
          </a:xfrm>
          <a:prstGeom prst="rect">
            <a:avLst/>
          </a:prstGeom>
          <a:noFill/>
          <a:ln w="0">
            <a:noFill/>
            <a:prstDash val="solid"/>
          </a:ln>
        </p:spPr>
        <p:txBody>
          <a:bodyPr/>
          <a:lstStyle/>
          <a:p>
            <a:pPr>
              <a:buNone/>
              <a:defRPr sz="1350" b="1">
                <a:solidFill>
                  <a:srgbClr val="3494BA"/>
                </a:solidFill>
              </a:defRPr>
            </a:pPr>
            <a:r>
              <a:rPr sz="1350" b="1">
                <a:solidFill>
                  <a:srgbClr val="3494BA"/>
                </a:solidFill>
              </a:rPr>
              <a:t>CLEANING RULES</a:t>
            </a:r>
          </a:p>
        </p:txBody>
      </p:sp>
      <p:sp>
        <p:nvSpPr>
          <p:cNvPr id="11" name="text">
            <a:extLst>
              <a:ext uri="{FF2B5EF4-FFF2-40B4-BE49-F238E27FC236}">
                <a16:creationId xmlns:a16="http://schemas.microsoft.com/office/drawing/2014/main" id="{D730DAB9-DBDA-43A6-A541-E95871F04CE7}"/>
              </a:ext>
            </a:extLst>
          </p:cNvPr>
          <p:cNvSpPr>
            <a:spLocks noGrp="1"/>
          </p:cNvSpPr>
          <p:nvPr/>
        </p:nvSpPr>
        <p:spPr>
          <a:xfrm>
            <a:off x="1143000" y="4857750"/>
            <a:ext cx="9810750" cy="666750"/>
          </a:xfrm>
          <a:prstGeom prst="rect">
            <a:avLst/>
          </a:prstGeom>
          <a:noFill/>
          <a:ln w="0">
            <a:noFill/>
            <a:prstDash val="solid"/>
          </a:ln>
        </p:spPr>
        <p:txBody>
          <a:bodyPr/>
          <a:lstStyle/>
          <a:p>
            <a:pPr algn="ctr">
              <a:buNone/>
              <a:defRPr sz="1650">
                <a:solidFill>
                  <a:srgbClr val="373545"/>
                </a:solidFill>
              </a:defRPr>
            </a:pPr>
            <a:r>
              <a:rPr sz="1650">
                <a:solidFill>
                  <a:srgbClr val="373545"/>
                </a:solidFill>
              </a:rPr>
              <a:t>Only invoiced records • Excluded cancelled $0 costs • Excluded provisional $9.95 costs • Converted accounting sign to positive cost</a:t>
            </a:r>
          </a:p>
        </p:txBody>
      </p:sp>
      <p:sp>
        <p:nvSpPr>
          <p:cNvPr id="12" name="text">
            <a:extLst>
              <a:ext uri="{FF2B5EF4-FFF2-40B4-BE49-F238E27FC236}">
                <a16:creationId xmlns:a16="http://schemas.microsoft.com/office/drawing/2014/main" id="{994DDA57-3DC7-4248-9B55-52CACB8269FF}"/>
              </a:ext>
            </a:extLst>
          </p:cNvPr>
          <p:cNvSpPr>
            <a:spLocks noGrp="1"/>
          </p:cNvSpPr>
          <p:nvPr/>
        </p:nvSpPr>
        <p:spPr>
          <a:xfrm>
            <a:off x="3000375" y="5810250"/>
            <a:ext cx="6191250" cy="304800"/>
          </a:xfrm>
          <a:prstGeom prst="rect">
            <a:avLst/>
          </a:prstGeom>
          <a:noFill/>
          <a:ln w="0">
            <a:noFill/>
            <a:prstDash val="solid"/>
          </a:ln>
        </p:spPr>
        <p:txBody>
          <a:bodyPr/>
          <a:lstStyle/>
          <a:p>
            <a:pPr algn="ctr">
              <a:buNone/>
              <a:defRPr sz="1725" b="1">
                <a:solidFill>
                  <a:srgbClr val="173F5F"/>
                </a:solidFill>
              </a:defRPr>
            </a:pPr>
            <a:r>
              <a:rPr sz="1725" b="1">
                <a:solidFill>
                  <a:srgbClr val="173F5F"/>
                </a:solidFill>
              </a:rPr>
              <a:t>Train → validation → calibration → final test</a:t>
            </a:r>
          </a:p>
        </p:txBody>
      </p:sp>
    </p:spTree>
    <p:extLst>
      <p:ext uri="{BB962C8B-B14F-4D97-AF65-F5344CB8AC3E}">
        <p14:creationId xmlns:p14="http://schemas.microsoft.com/office/powerpoint/2010/main" val="1621312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4240D-88C8-625B-7143-95342A0A942D}"/>
              </a:ext>
            </a:extLst>
          </p:cNvPr>
          <p:cNvSpPr>
            <a:spLocks noGrp="1"/>
          </p:cNvSpPr>
          <p:nvPr>
            <p:ph type="title"/>
          </p:nvPr>
        </p:nvSpPr>
        <p:spPr>
          <a:xfrm>
            <a:off x="3836504" y="758952"/>
            <a:ext cx="7319175" cy="3566160"/>
          </a:xfrm>
        </p:spPr>
        <p:txBody>
          <a:bodyPr vert="horz" lIns="91440" tIns="45720" rIns="91440" bIns="45720" rtlCol="0" anchor="b">
            <a:normAutofit/>
          </a:bodyPr>
          <a:lstStyle/>
          <a:p>
            <a:r>
              <a:rPr lang="en-US" sz="8000">
                <a:solidFill>
                  <a:schemeClr val="tx1">
                    <a:lumMod val="85000"/>
                    <a:lumOff val="15000"/>
                  </a:schemeClr>
                </a:solidFill>
              </a:rPr>
              <a:t>Thank you</a:t>
            </a:r>
          </a:p>
        </p:txBody>
      </p:sp>
      <p:pic>
        <p:nvPicPr>
          <p:cNvPr id="7" name="Graphic 6" descr="Smiling Face with No Fill">
            <a:extLst>
              <a:ext uri="{FF2B5EF4-FFF2-40B4-BE49-F238E27FC236}">
                <a16:creationId xmlns:a16="http://schemas.microsoft.com/office/drawing/2014/main" id="{1F4E1796-648C-442B-7236-5AF0848C8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29818" y="1944907"/>
            <a:ext cx="2449486" cy="2449486"/>
          </a:xfrm>
          <a:prstGeom prst="rect">
            <a:avLst/>
          </a:prstGeom>
        </p:spPr>
      </p:pic>
    </p:spTree>
    <p:extLst>
      <p:ext uri="{BB962C8B-B14F-4D97-AF65-F5344CB8AC3E}">
        <p14:creationId xmlns:p14="http://schemas.microsoft.com/office/powerpoint/2010/main" val="3951211941"/>
      </p:ext>
    </p:extLst>
  </p:cSld>
  <p:clrMapOvr>
    <a:masterClrMapping/>
  </p:clrMapOvr>
</p:sld>
</file>

<file path=ppt/theme/theme1.xml><?xml version="1.0" encoding="utf-8"?>
<a:theme xmlns:a="http://schemas.openxmlformats.org/drawingml/2006/main" name="Retrospec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Gree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ppt/theme/theme2.xml><?xml version="1.0" encoding="utf-8"?>
<a:theme xmlns:a="http://schemas.openxmlformats.org/drawingml/2006/main" name="Retrospec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lue Gree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a:solidFill>
            <a:schemeClr val="phClr"/>
          </a:solidFill>
          <a:prstDash val="solid"/>
        </a:ln>
        <a:ln w="15875">
          <a:solidFill>
            <a:schemeClr val="phClr"/>
          </a:solidFill>
          <a:prstDash val="solid"/>
        </a:ln>
        <a:ln w="25400">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1380</Words>
  <Application>Microsoft Office PowerPoint</Application>
  <DocSecurity>0</DocSecurity>
  <PresentationFormat>Widescreen</PresentationFormat>
  <Paragraphs>180</Paragraphs>
  <Slides>14</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Calibri</vt:lpstr>
      <vt:lpstr>Calibri Light</vt:lpstr>
      <vt:lpstr>Retrospect</vt:lpstr>
      <vt:lpstr>Transportation Cost Prediction Using Machine Learning</vt:lpstr>
      <vt:lpstr>Gallagher should pilot a quote-range tool to help brokers prepare more accurate and consistent customer quotes.</vt:lpstr>
      <vt:lpstr>Gallagher's 7,167 finalized shipments represent a business dominated by sea and air transportation.</vt:lpstr>
      <vt:lpstr>Typical transportation cost differs sharply by shipment type, so one reference price cannot support every quote.</vt:lpstr>
      <vt:lpstr>Transportation costs shifted across months while future disruptions remained difficult to anticipate at quote time.</vt:lpstr>
      <vt:lpstr>One underquoted shipment shows how cost uncertainty can become unrecovered revenue.</vt:lpstr>
      <vt:lpstr>The tool turns quote-time shipment details into an estimated final cost and a transparent range.</vt:lpstr>
      <vt:lpstr>The range captured 89.3% of future costs, but uncommon shipments still require broker judgment.</vt:lpstr>
      <vt:lpstr>The working prototype fits the broker workflow and keeps unusual cases under human review.</vt:lpstr>
      <vt:lpstr>A 90-day pilot can measure whether the tool improves quote consistency, speed, and margin protection.</vt:lpstr>
      <vt:lpstr>Typical estimates are close, but uncommon expensive shipments still create large misses.</vt:lpstr>
      <vt:lpstr>Brokers can use the tool for routine quotes and escalate wide or unusual cases for review.</vt:lpstr>
      <vt:lpstr>The evaluation used finalized historical costs and preserved time order to simulate future quotes.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tatiana palacios</cp:lastModifiedBy>
  <cp:revision>1</cp:revision>
  <dcterms:created xsi:type="dcterms:W3CDTF">2026-08-19T02:18:35Z</dcterms:created>
  <dcterms:modified xsi:type="dcterms:W3CDTF">2026-08-19T02:28:49Z</dcterms:modified>
</cp:coreProperties>
</file>