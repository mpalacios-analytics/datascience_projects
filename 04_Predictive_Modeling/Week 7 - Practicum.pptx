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4" r:id="rId1"/>
  </p:sldMasterIdLst>
  <p:sldIdLst>
    <p:sldId id="258" r:id="rId2"/>
    <p:sldId id="284" r:id="rId3"/>
    <p:sldId id="285" r:id="rId4"/>
    <p:sldId id="281" r:id="rId5"/>
    <p:sldId id="286" r:id="rId6"/>
    <p:sldId id="287" r:id="rId7"/>
    <p:sldId id="282" r:id="rId8"/>
    <p:sldId id="283" r:id="rId9"/>
    <p:sldId id="272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424270C-F69D-4625-9CED-B634D0D5B11A}" v="23" dt="2026-06-16T22:01:02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iana Palacios" userId="7572d134-dcbf-48c4-b23c-b104b3f9f213" providerId="ADAL" clId="{7DAF7DF1-A61E-4BE3-88FB-3803EB9FCACC}"/>
    <pc:docChg chg="undo custSel addSld delSld modSld sldOrd modMainMaster">
      <pc:chgData name="Tatiana Palacios" userId="7572d134-dcbf-48c4-b23c-b104b3f9f213" providerId="ADAL" clId="{7DAF7DF1-A61E-4BE3-88FB-3803EB9FCACC}" dt="2026-06-16T22:01:02.335" v="514"/>
      <pc:docMkLst>
        <pc:docMk/>
      </pc:docMkLst>
      <pc:sldChg chg="del">
        <pc:chgData name="Tatiana Palacios" userId="7572d134-dcbf-48c4-b23c-b104b3f9f213" providerId="ADAL" clId="{7DAF7DF1-A61E-4BE3-88FB-3803EB9FCACC}" dt="2026-06-16T21:45:08.121" v="403" actId="47"/>
        <pc:sldMkLst>
          <pc:docMk/>
          <pc:sldMk cId="3983507298" sldId="267"/>
        </pc:sldMkLst>
      </pc:sldChg>
      <pc:sldChg chg="del">
        <pc:chgData name="Tatiana Palacios" userId="7572d134-dcbf-48c4-b23c-b104b3f9f213" providerId="ADAL" clId="{7DAF7DF1-A61E-4BE3-88FB-3803EB9FCACC}" dt="2026-06-16T21:45:17.788" v="404" actId="47"/>
        <pc:sldMkLst>
          <pc:docMk/>
          <pc:sldMk cId="3810825216" sldId="278"/>
        </pc:sldMkLst>
      </pc:sldChg>
      <pc:sldChg chg="add del">
        <pc:chgData name="Tatiana Palacios" userId="7572d134-dcbf-48c4-b23c-b104b3f9f213" providerId="ADAL" clId="{7DAF7DF1-A61E-4BE3-88FB-3803EB9FCACC}" dt="2026-06-16T21:57:17.848" v="478" actId="47"/>
        <pc:sldMkLst>
          <pc:docMk/>
          <pc:sldMk cId="2935082496" sldId="279"/>
        </pc:sldMkLst>
      </pc:sldChg>
      <pc:sldChg chg="del">
        <pc:chgData name="Tatiana Palacios" userId="7572d134-dcbf-48c4-b23c-b104b3f9f213" providerId="ADAL" clId="{7DAF7DF1-A61E-4BE3-88FB-3803EB9FCACC}" dt="2026-06-16T21:57:18.538" v="479" actId="47"/>
        <pc:sldMkLst>
          <pc:docMk/>
          <pc:sldMk cId="4222563320" sldId="280"/>
        </pc:sldMkLst>
      </pc:sldChg>
      <pc:sldChg chg="addSp modSp mod">
        <pc:chgData name="Tatiana Palacios" userId="7572d134-dcbf-48c4-b23c-b104b3f9f213" providerId="ADAL" clId="{7DAF7DF1-A61E-4BE3-88FB-3803EB9FCACC}" dt="2026-06-16T21:58:43.852" v="493" actId="1076"/>
        <pc:sldMkLst>
          <pc:docMk/>
          <pc:sldMk cId="36680090" sldId="281"/>
        </pc:sldMkLst>
        <pc:spChg chg="mod">
          <ac:chgData name="Tatiana Palacios" userId="7572d134-dcbf-48c4-b23c-b104b3f9f213" providerId="ADAL" clId="{7DAF7DF1-A61E-4BE3-88FB-3803EB9FCACC}" dt="2026-06-16T21:58:04.061" v="487"/>
          <ac:spMkLst>
            <pc:docMk/>
            <pc:sldMk cId="36680090" sldId="281"/>
            <ac:spMk id="2" creationId="{CBFF105E-1AA7-A532-606E-F17D7D4984DB}"/>
          </ac:spMkLst>
        </pc:spChg>
        <pc:spChg chg="mod">
          <ac:chgData name="Tatiana Palacios" userId="7572d134-dcbf-48c4-b23c-b104b3f9f213" providerId="ADAL" clId="{7DAF7DF1-A61E-4BE3-88FB-3803EB9FCACC}" dt="2026-06-16T21:58:24.396" v="491" actId="20577"/>
          <ac:spMkLst>
            <pc:docMk/>
            <pc:sldMk cId="36680090" sldId="281"/>
            <ac:spMk id="3" creationId="{E7F03574-00BA-FAD5-08EF-9CE348B59C38}"/>
          </ac:spMkLst>
        </pc:spChg>
        <pc:spChg chg="add mod">
          <ac:chgData name="Tatiana Palacios" userId="7572d134-dcbf-48c4-b23c-b104b3f9f213" providerId="ADAL" clId="{7DAF7DF1-A61E-4BE3-88FB-3803EB9FCACC}" dt="2026-06-16T21:58:43.852" v="493" actId="1076"/>
          <ac:spMkLst>
            <pc:docMk/>
            <pc:sldMk cId="36680090" sldId="281"/>
            <ac:spMk id="6" creationId="{C47AF47E-C62C-CCCB-2E80-67BCC5ECE71A}"/>
          </ac:spMkLst>
        </pc:spChg>
        <pc:graphicFrameChg chg="add mod">
          <ac:chgData name="Tatiana Palacios" userId="7572d134-dcbf-48c4-b23c-b104b3f9f213" providerId="ADAL" clId="{7DAF7DF1-A61E-4BE3-88FB-3803EB9FCACC}" dt="2026-06-16T21:58:17.387" v="488"/>
          <ac:graphicFrameMkLst>
            <pc:docMk/>
            <pc:sldMk cId="36680090" sldId="281"/>
            <ac:graphicFrameMk id="4" creationId="{F23991E5-2EE2-8BAD-7E51-D8492DD3A487}"/>
          </ac:graphicFrameMkLst>
        </pc:graphicFrameChg>
      </pc:sldChg>
      <pc:sldChg chg="addSp modSp new mod ord">
        <pc:chgData name="Tatiana Palacios" userId="7572d134-dcbf-48c4-b23c-b104b3f9f213" providerId="ADAL" clId="{7DAF7DF1-A61E-4BE3-88FB-3803EB9FCACC}" dt="2026-06-16T21:57:38.559" v="482" actId="20577"/>
        <pc:sldMkLst>
          <pc:docMk/>
          <pc:sldMk cId="220453499" sldId="284"/>
        </pc:sldMkLst>
        <pc:spChg chg="mod">
          <ac:chgData name="Tatiana Palacios" userId="7572d134-dcbf-48c4-b23c-b104b3f9f213" providerId="ADAL" clId="{7DAF7DF1-A61E-4BE3-88FB-3803EB9FCACC}" dt="2026-06-16T21:56:34.353" v="468"/>
          <ac:spMkLst>
            <pc:docMk/>
            <pc:sldMk cId="220453499" sldId="284"/>
            <ac:spMk id="2" creationId="{EB1F1B75-C6AA-F003-B579-321E4225A0F6}"/>
          </ac:spMkLst>
        </pc:spChg>
        <pc:spChg chg="mod">
          <ac:chgData name="Tatiana Palacios" userId="7572d134-dcbf-48c4-b23c-b104b3f9f213" providerId="ADAL" clId="{7DAF7DF1-A61E-4BE3-88FB-3803EB9FCACC}" dt="2026-06-16T21:57:09.949" v="477" actId="27636"/>
          <ac:spMkLst>
            <pc:docMk/>
            <pc:sldMk cId="220453499" sldId="284"/>
            <ac:spMk id="3" creationId="{026C2FB7-5CC5-ACA1-F82E-0F7CB6529992}"/>
          </ac:spMkLst>
        </pc:spChg>
        <pc:spChg chg="add mod">
          <ac:chgData name="Tatiana Palacios" userId="7572d134-dcbf-48c4-b23c-b104b3f9f213" providerId="ADAL" clId="{7DAF7DF1-A61E-4BE3-88FB-3803EB9FCACC}" dt="2026-06-16T21:57:38.559" v="482" actId="20577"/>
          <ac:spMkLst>
            <pc:docMk/>
            <pc:sldMk cId="220453499" sldId="284"/>
            <ac:spMk id="5" creationId="{977EBF39-C87F-E52D-1EEE-398F69B02AD5}"/>
          </ac:spMkLst>
        </pc:spChg>
      </pc:sldChg>
      <pc:sldChg chg="new del">
        <pc:chgData name="Tatiana Palacios" userId="7572d134-dcbf-48c4-b23c-b104b3f9f213" providerId="ADAL" clId="{7DAF7DF1-A61E-4BE3-88FB-3803EB9FCACC}" dt="2026-06-16T21:45:46.778" v="410" actId="47"/>
        <pc:sldMkLst>
          <pc:docMk/>
          <pc:sldMk cId="2409275960" sldId="285"/>
        </pc:sldMkLst>
      </pc:sldChg>
      <pc:sldChg chg="addSp delSp modSp new mod">
        <pc:chgData name="Tatiana Palacios" userId="7572d134-dcbf-48c4-b23c-b104b3f9f213" providerId="ADAL" clId="{7DAF7DF1-A61E-4BE3-88FB-3803EB9FCACC}" dt="2026-06-16T21:57:52.508" v="486" actId="478"/>
        <pc:sldMkLst>
          <pc:docMk/>
          <pc:sldMk cId="3064757503" sldId="285"/>
        </pc:sldMkLst>
        <pc:spChg chg="mod">
          <ac:chgData name="Tatiana Palacios" userId="7572d134-dcbf-48c4-b23c-b104b3f9f213" providerId="ADAL" clId="{7DAF7DF1-A61E-4BE3-88FB-3803EB9FCACC}" dt="2026-06-16T21:48:30.948" v="462"/>
          <ac:spMkLst>
            <pc:docMk/>
            <pc:sldMk cId="3064757503" sldId="285"/>
            <ac:spMk id="2" creationId="{C4E5BD3C-7B6F-607A-E165-E2930BDDAD8E}"/>
          </ac:spMkLst>
        </pc:spChg>
        <pc:spChg chg="mod">
          <ac:chgData name="Tatiana Palacios" userId="7572d134-dcbf-48c4-b23c-b104b3f9f213" providerId="ADAL" clId="{7DAF7DF1-A61E-4BE3-88FB-3803EB9FCACC}" dt="2026-06-16T21:56:18.900" v="467" actId="27636"/>
          <ac:spMkLst>
            <pc:docMk/>
            <pc:sldMk cId="3064757503" sldId="285"/>
            <ac:spMk id="3" creationId="{872865FA-8572-2FD1-7203-DD28E95E7E10}"/>
          </ac:spMkLst>
        </pc:spChg>
        <pc:spChg chg="add mod">
          <ac:chgData name="Tatiana Palacios" userId="7572d134-dcbf-48c4-b23c-b104b3f9f213" providerId="ADAL" clId="{7DAF7DF1-A61E-4BE3-88FB-3803EB9FCACC}" dt="2026-06-16T21:57:49.486" v="485" actId="1076"/>
          <ac:spMkLst>
            <pc:docMk/>
            <pc:sldMk cId="3064757503" sldId="285"/>
            <ac:spMk id="6" creationId="{0F79EA71-8FB4-0404-8719-0D807C74F88B}"/>
          </ac:spMkLst>
        </pc:spChg>
        <pc:graphicFrameChg chg="add del mod">
          <ac:chgData name="Tatiana Palacios" userId="7572d134-dcbf-48c4-b23c-b104b3f9f213" providerId="ADAL" clId="{7DAF7DF1-A61E-4BE3-88FB-3803EB9FCACC}" dt="2026-06-16T21:57:52.508" v="486" actId="478"/>
          <ac:graphicFrameMkLst>
            <pc:docMk/>
            <pc:sldMk cId="3064757503" sldId="285"/>
            <ac:graphicFrameMk id="4" creationId="{A3944EBE-E312-5A29-500C-B091F5FDC6EA}"/>
          </ac:graphicFrameMkLst>
        </pc:graphicFrameChg>
      </pc:sldChg>
      <pc:sldChg chg="addSp delSp modSp new mod">
        <pc:chgData name="Tatiana Palacios" userId="7572d134-dcbf-48c4-b23c-b104b3f9f213" providerId="ADAL" clId="{7DAF7DF1-A61E-4BE3-88FB-3803EB9FCACC}" dt="2026-06-16T22:00:54.407" v="512" actId="21"/>
        <pc:sldMkLst>
          <pc:docMk/>
          <pc:sldMk cId="2826179602" sldId="286"/>
        </pc:sldMkLst>
        <pc:spChg chg="mod">
          <ac:chgData name="Tatiana Palacios" userId="7572d134-dcbf-48c4-b23c-b104b3f9f213" providerId="ADAL" clId="{7DAF7DF1-A61E-4BE3-88FB-3803EB9FCACC}" dt="2026-06-16T21:59:05.594" v="496" actId="20577"/>
          <ac:spMkLst>
            <pc:docMk/>
            <pc:sldMk cId="2826179602" sldId="286"/>
            <ac:spMk id="2" creationId="{C0995D92-2A42-D27D-7303-4C61CE4CDD24}"/>
          </ac:spMkLst>
        </pc:spChg>
        <pc:spChg chg="mod">
          <ac:chgData name="Tatiana Palacios" userId="7572d134-dcbf-48c4-b23c-b104b3f9f213" providerId="ADAL" clId="{7DAF7DF1-A61E-4BE3-88FB-3803EB9FCACC}" dt="2026-06-16T21:59:33.998" v="499" actId="20577"/>
          <ac:spMkLst>
            <pc:docMk/>
            <pc:sldMk cId="2826179602" sldId="286"/>
            <ac:spMk id="3" creationId="{13D8C246-0101-96DF-0124-335F0827ABD1}"/>
          </ac:spMkLst>
        </pc:spChg>
        <pc:spChg chg="add mod">
          <ac:chgData name="Tatiana Palacios" userId="7572d134-dcbf-48c4-b23c-b104b3f9f213" providerId="ADAL" clId="{7DAF7DF1-A61E-4BE3-88FB-3803EB9FCACC}" dt="2026-06-16T22:00:31.056" v="506" actId="1076"/>
          <ac:spMkLst>
            <pc:docMk/>
            <pc:sldMk cId="2826179602" sldId="286"/>
            <ac:spMk id="5" creationId="{63F87938-84CD-D748-232F-9E0CF03958DC}"/>
          </ac:spMkLst>
        </pc:spChg>
        <pc:spChg chg="add del mod">
          <ac:chgData name="Tatiana Palacios" userId="7572d134-dcbf-48c4-b23c-b104b3f9f213" providerId="ADAL" clId="{7DAF7DF1-A61E-4BE3-88FB-3803EB9FCACC}" dt="2026-06-16T22:00:54.407" v="512" actId="21"/>
          <ac:spMkLst>
            <pc:docMk/>
            <pc:sldMk cId="2826179602" sldId="286"/>
            <ac:spMk id="8" creationId="{11266D6A-6EE4-223B-9716-315451BAA745}"/>
          </ac:spMkLst>
        </pc:spChg>
        <pc:graphicFrameChg chg="add del mod">
          <ac:chgData name="Tatiana Palacios" userId="7572d134-dcbf-48c4-b23c-b104b3f9f213" providerId="ADAL" clId="{7DAF7DF1-A61E-4BE3-88FB-3803EB9FCACC}" dt="2026-06-16T22:00:36.735" v="510" actId="478"/>
          <ac:graphicFrameMkLst>
            <pc:docMk/>
            <pc:sldMk cId="2826179602" sldId="286"/>
            <ac:graphicFrameMk id="6" creationId="{B0268C70-22C1-ECF5-E707-1AEB8E3BDD31}"/>
          </ac:graphicFrameMkLst>
        </pc:graphicFrameChg>
      </pc:sldChg>
      <pc:sldChg chg="addSp delSp modSp new mod">
        <pc:chgData name="Tatiana Palacios" userId="7572d134-dcbf-48c4-b23c-b104b3f9f213" providerId="ADAL" clId="{7DAF7DF1-A61E-4BE3-88FB-3803EB9FCACC}" dt="2026-06-16T22:01:02.335" v="514"/>
        <pc:sldMkLst>
          <pc:docMk/>
          <pc:sldMk cId="1815767636" sldId="287"/>
        </pc:sldMkLst>
        <pc:spChg chg="mod">
          <ac:chgData name="Tatiana Palacios" userId="7572d134-dcbf-48c4-b23c-b104b3f9f213" providerId="ADAL" clId="{7DAF7DF1-A61E-4BE3-88FB-3803EB9FCACC}" dt="2026-06-16T22:01:02.335" v="514"/>
          <ac:spMkLst>
            <pc:docMk/>
            <pc:sldMk cId="1815767636" sldId="287"/>
            <ac:spMk id="2" creationId="{6788A41F-FE75-A497-1C42-B6A4EA4089B3}"/>
          </ac:spMkLst>
        </pc:spChg>
        <pc:spChg chg="del">
          <ac:chgData name="Tatiana Palacios" userId="7572d134-dcbf-48c4-b23c-b104b3f9f213" providerId="ADAL" clId="{7DAF7DF1-A61E-4BE3-88FB-3803EB9FCACC}" dt="2026-06-16T22:00:55.978" v="513" actId="22"/>
          <ac:spMkLst>
            <pc:docMk/>
            <pc:sldMk cId="1815767636" sldId="287"/>
            <ac:spMk id="3" creationId="{1AAF0AF8-2CB9-9819-9412-4BF11CFB6DDC}"/>
          </ac:spMkLst>
        </pc:spChg>
        <pc:spChg chg="add mod">
          <ac:chgData name="Tatiana Palacios" userId="7572d134-dcbf-48c4-b23c-b104b3f9f213" providerId="ADAL" clId="{7DAF7DF1-A61E-4BE3-88FB-3803EB9FCACC}" dt="2026-06-16T22:00:55.978" v="513" actId="22"/>
          <ac:spMkLst>
            <pc:docMk/>
            <pc:sldMk cId="1815767636" sldId="287"/>
            <ac:spMk id="5" creationId="{AFE7A98C-9E91-2DEC-1456-80C8D3FA707E}"/>
          </ac:spMkLst>
        </pc:spChg>
      </pc:sldChg>
    </pc:docChg>
  </pc:docChgLst>
  <pc:docChgLst>
    <pc:chgData name="tatiana palacios" userId="3cb085085ed44d29" providerId="LiveId" clId="{E8F264A4-F950-446F-8A83-18451A428B83}"/>
    <pc:docChg chg="undo custSel addSld delSld modSld">
      <pc:chgData name="tatiana palacios" userId="3cb085085ed44d29" providerId="LiveId" clId="{E8F264A4-F950-446F-8A83-18451A428B83}" dt="2026-06-02T01:55:22.259" v="4286" actId="27636"/>
      <pc:docMkLst>
        <pc:docMk/>
      </pc:docMkLst>
      <pc:sldChg chg="modSp mod">
        <pc:chgData name="tatiana palacios" userId="3cb085085ed44d29" providerId="LiveId" clId="{E8F264A4-F950-446F-8A83-18451A428B83}" dt="2026-06-02T01:19:43.262" v="4256" actId="122"/>
        <pc:sldMkLst>
          <pc:docMk/>
          <pc:sldMk cId="819757944" sldId="258"/>
        </pc:sldMkLst>
        <pc:spChg chg="mod">
          <ac:chgData name="tatiana palacios" userId="3cb085085ed44d29" providerId="LiveId" clId="{E8F264A4-F950-446F-8A83-18451A428B83}" dt="2026-06-02T01:19:43.262" v="4256" actId="122"/>
          <ac:spMkLst>
            <pc:docMk/>
            <pc:sldMk cId="819757944" sldId="258"/>
            <ac:spMk id="2" creationId="{599FF97B-1B8B-55B1-3887-778ABAF240B2}"/>
          </ac:spMkLst>
        </pc:spChg>
        <pc:spChg chg="mod">
          <ac:chgData name="tatiana palacios" userId="3cb085085ed44d29" providerId="LiveId" clId="{E8F264A4-F950-446F-8A83-18451A428B83}" dt="2026-06-02T01:16:41.364" v="4249" actId="20577"/>
          <ac:spMkLst>
            <pc:docMk/>
            <pc:sldMk cId="819757944" sldId="258"/>
            <ac:spMk id="3" creationId="{73F01B2B-E232-7B32-7E98-C789A94C496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648FCC-D5FF-4F64-9160-4D6E41D94FFF}" type="doc">
      <dgm:prSet loTypeId="urn:microsoft.com/office/officeart/2005/8/layout/hierarchy1" loCatId="hierarchy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2B46A0C-0A46-4DBA-B37A-F818F124FF2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Week 8 - f</a:t>
          </a:r>
          <a:r>
            <a:rPr lang="en-US" b="0" i="0" dirty="0"/>
            <a:t>orecasting component to predict shipment volume</a:t>
          </a:r>
        </a:p>
        <a:p>
          <a:pPr>
            <a:lnSpc>
              <a:spcPct val="100000"/>
            </a:lnSpc>
            <a:buNone/>
          </a:pPr>
          <a:endParaRPr lang="en-US" dirty="0"/>
        </a:p>
      </dgm:t>
    </dgm:pt>
    <dgm:pt modelId="{D2352107-67A7-4F71-A0E2-C62096AE0993}" type="parTrans" cxnId="{7D1D287E-90CD-4D95-B474-97414086D71E}">
      <dgm:prSet/>
      <dgm:spPr/>
      <dgm:t>
        <a:bodyPr/>
        <a:lstStyle/>
        <a:p>
          <a:endParaRPr lang="en-US"/>
        </a:p>
      </dgm:t>
    </dgm:pt>
    <dgm:pt modelId="{43269518-ED00-47A1-853B-3CE7A487C472}" type="sibTrans" cxnId="{7D1D287E-90CD-4D95-B474-97414086D71E}">
      <dgm:prSet/>
      <dgm:spPr/>
      <dgm:t>
        <a:bodyPr/>
        <a:lstStyle/>
        <a:p>
          <a:endParaRPr lang="en-US"/>
        </a:p>
      </dgm:t>
    </dgm:pt>
    <dgm:pt modelId="{19936EC7-B873-4ED6-8728-9300D80796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Week 8 - Final Presentation</a:t>
          </a:r>
        </a:p>
      </dgm:t>
    </dgm:pt>
    <dgm:pt modelId="{8BFBE31F-FD25-4EBA-BB38-F2D32AE3CDB8}" type="parTrans" cxnId="{A5353230-B52F-4A74-8D58-1C711F4FEC09}">
      <dgm:prSet/>
      <dgm:spPr/>
      <dgm:t>
        <a:bodyPr/>
        <a:lstStyle/>
        <a:p>
          <a:endParaRPr lang="en-US"/>
        </a:p>
      </dgm:t>
    </dgm:pt>
    <dgm:pt modelId="{7F256EF2-656D-4994-939E-3270FDCBDBC6}" type="sibTrans" cxnId="{A5353230-B52F-4A74-8D58-1C711F4FEC09}">
      <dgm:prSet/>
      <dgm:spPr/>
      <dgm:t>
        <a:bodyPr/>
        <a:lstStyle/>
        <a:p>
          <a:endParaRPr lang="en-US"/>
        </a:p>
      </dgm:t>
    </dgm:pt>
    <dgm:pt modelId="{58121384-A2F3-485C-A089-FA7572D1A4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Week 7 - </a:t>
          </a:r>
          <a:r>
            <a:rPr lang="en-US" b="0" i="0" dirty="0"/>
            <a:t>Logistic Regression </a:t>
          </a:r>
          <a:r>
            <a:rPr lang="en-US" b="0" i="0" dirty="0" err="1"/>
            <a:t>XGBoost</a:t>
          </a:r>
          <a:endParaRPr lang="en-US" b="0" i="0" dirty="0"/>
        </a:p>
        <a:p>
          <a:pPr>
            <a:lnSpc>
              <a:spcPct val="100000"/>
            </a:lnSpc>
            <a:buNone/>
          </a:pPr>
          <a:endParaRPr lang="en-US" dirty="0"/>
        </a:p>
        <a:p>
          <a:pPr>
            <a:lnSpc>
              <a:spcPct val="100000"/>
            </a:lnSpc>
            <a:buNone/>
          </a:pPr>
          <a:endParaRPr lang="en-US" dirty="0"/>
        </a:p>
      </dgm:t>
    </dgm:pt>
    <dgm:pt modelId="{3AF0966F-883D-4F7E-AC1F-C290C03D5D30}" type="sibTrans" cxnId="{CC4E3B3D-1C2D-4465-9DF0-7D97898F57EC}">
      <dgm:prSet/>
      <dgm:spPr/>
      <dgm:t>
        <a:bodyPr/>
        <a:lstStyle/>
        <a:p>
          <a:endParaRPr lang="en-US"/>
        </a:p>
      </dgm:t>
    </dgm:pt>
    <dgm:pt modelId="{9724BFD1-A30D-498C-9A62-5214274FC550}" type="parTrans" cxnId="{CC4E3B3D-1C2D-4465-9DF0-7D97898F57EC}">
      <dgm:prSet/>
      <dgm:spPr/>
      <dgm:t>
        <a:bodyPr/>
        <a:lstStyle/>
        <a:p>
          <a:endParaRPr lang="en-US"/>
        </a:p>
      </dgm:t>
    </dgm:pt>
    <dgm:pt modelId="{79AFE07C-D6D7-40FB-9726-F820D4458B96}" type="pres">
      <dgm:prSet presAssocID="{65648FCC-D5FF-4F64-9160-4D6E41D94F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D2385FE-F787-4CC8-826D-BC33DDE62813}" type="pres">
      <dgm:prSet presAssocID="{58121384-A2F3-485C-A089-FA7572D1A46A}" presName="hierRoot1" presStyleCnt="0"/>
      <dgm:spPr/>
    </dgm:pt>
    <dgm:pt modelId="{11D48FB9-7771-412C-84C2-8FF230956524}" type="pres">
      <dgm:prSet presAssocID="{58121384-A2F3-485C-A089-FA7572D1A46A}" presName="composite" presStyleCnt="0"/>
      <dgm:spPr/>
    </dgm:pt>
    <dgm:pt modelId="{89D76A67-B0CF-4ACE-890F-B058AEC60683}" type="pres">
      <dgm:prSet presAssocID="{58121384-A2F3-485C-A089-FA7572D1A46A}" presName="background" presStyleLbl="node0" presStyleIdx="0" presStyleCnt="3"/>
      <dgm:spPr/>
    </dgm:pt>
    <dgm:pt modelId="{667CD4B7-CEC8-4268-ADFD-CAEB7260FC48}" type="pres">
      <dgm:prSet presAssocID="{58121384-A2F3-485C-A089-FA7572D1A46A}" presName="text" presStyleLbl="fgAcc0" presStyleIdx="0" presStyleCnt="3">
        <dgm:presLayoutVars>
          <dgm:chPref val="3"/>
        </dgm:presLayoutVars>
      </dgm:prSet>
      <dgm:spPr/>
    </dgm:pt>
    <dgm:pt modelId="{10302E58-B47D-44C7-B044-EDF4376F4800}" type="pres">
      <dgm:prSet presAssocID="{58121384-A2F3-485C-A089-FA7572D1A46A}" presName="hierChild2" presStyleCnt="0"/>
      <dgm:spPr/>
    </dgm:pt>
    <dgm:pt modelId="{8CD7CBE4-0205-40F5-84FB-726305F9214D}" type="pres">
      <dgm:prSet presAssocID="{E2B46A0C-0A46-4DBA-B37A-F818F124FF2F}" presName="hierRoot1" presStyleCnt="0"/>
      <dgm:spPr/>
    </dgm:pt>
    <dgm:pt modelId="{2F281C7C-4726-4A14-B6D7-E64CA310223D}" type="pres">
      <dgm:prSet presAssocID="{E2B46A0C-0A46-4DBA-B37A-F818F124FF2F}" presName="composite" presStyleCnt="0"/>
      <dgm:spPr/>
    </dgm:pt>
    <dgm:pt modelId="{B3EBFE49-156E-41BE-93B7-75652754CBD4}" type="pres">
      <dgm:prSet presAssocID="{E2B46A0C-0A46-4DBA-B37A-F818F124FF2F}" presName="background" presStyleLbl="node0" presStyleIdx="1" presStyleCnt="3"/>
      <dgm:spPr/>
    </dgm:pt>
    <dgm:pt modelId="{712B3928-0A08-4D2E-9B42-6BBFA8DD2BDF}" type="pres">
      <dgm:prSet presAssocID="{E2B46A0C-0A46-4DBA-B37A-F818F124FF2F}" presName="text" presStyleLbl="fgAcc0" presStyleIdx="1" presStyleCnt="3">
        <dgm:presLayoutVars>
          <dgm:chPref val="3"/>
        </dgm:presLayoutVars>
      </dgm:prSet>
      <dgm:spPr/>
    </dgm:pt>
    <dgm:pt modelId="{BA820B29-AFB7-43F8-AF56-6D180B66598E}" type="pres">
      <dgm:prSet presAssocID="{E2B46A0C-0A46-4DBA-B37A-F818F124FF2F}" presName="hierChild2" presStyleCnt="0"/>
      <dgm:spPr/>
    </dgm:pt>
    <dgm:pt modelId="{E43E32A8-1392-44FC-AD74-06669BD32343}" type="pres">
      <dgm:prSet presAssocID="{19936EC7-B873-4ED6-8728-9300D8079664}" presName="hierRoot1" presStyleCnt="0"/>
      <dgm:spPr/>
    </dgm:pt>
    <dgm:pt modelId="{A9426359-2BB6-4425-87E5-421A9C5AB708}" type="pres">
      <dgm:prSet presAssocID="{19936EC7-B873-4ED6-8728-9300D8079664}" presName="composite" presStyleCnt="0"/>
      <dgm:spPr/>
    </dgm:pt>
    <dgm:pt modelId="{79C2C9B4-2D72-463C-96CB-2373B60BB594}" type="pres">
      <dgm:prSet presAssocID="{19936EC7-B873-4ED6-8728-9300D8079664}" presName="background" presStyleLbl="node0" presStyleIdx="2" presStyleCnt="3"/>
      <dgm:spPr/>
    </dgm:pt>
    <dgm:pt modelId="{6F7CF770-0F55-4E9F-B1A4-3362580060E0}" type="pres">
      <dgm:prSet presAssocID="{19936EC7-B873-4ED6-8728-9300D8079664}" presName="text" presStyleLbl="fgAcc0" presStyleIdx="2" presStyleCnt="3">
        <dgm:presLayoutVars>
          <dgm:chPref val="3"/>
        </dgm:presLayoutVars>
      </dgm:prSet>
      <dgm:spPr/>
    </dgm:pt>
    <dgm:pt modelId="{F7733327-BEF6-44AC-A8B9-4AE60BFC84F7}" type="pres">
      <dgm:prSet presAssocID="{19936EC7-B873-4ED6-8728-9300D8079664}" presName="hierChild2" presStyleCnt="0"/>
      <dgm:spPr/>
    </dgm:pt>
  </dgm:ptLst>
  <dgm:cxnLst>
    <dgm:cxn modelId="{1A66A411-B596-46C6-9D9B-26250AC4FB2E}" type="presOf" srcId="{65648FCC-D5FF-4F64-9160-4D6E41D94FFF}" destId="{79AFE07C-D6D7-40FB-9726-F820D4458B96}" srcOrd="0" destOrd="0" presId="urn:microsoft.com/office/officeart/2005/8/layout/hierarchy1"/>
    <dgm:cxn modelId="{A5353230-B52F-4A74-8D58-1C711F4FEC09}" srcId="{65648FCC-D5FF-4F64-9160-4D6E41D94FFF}" destId="{19936EC7-B873-4ED6-8728-9300D8079664}" srcOrd="2" destOrd="0" parTransId="{8BFBE31F-FD25-4EBA-BB38-F2D32AE3CDB8}" sibTransId="{7F256EF2-656D-4994-939E-3270FDCBDBC6}"/>
    <dgm:cxn modelId="{CC4E3B3D-1C2D-4465-9DF0-7D97898F57EC}" srcId="{65648FCC-D5FF-4F64-9160-4D6E41D94FFF}" destId="{58121384-A2F3-485C-A089-FA7572D1A46A}" srcOrd="0" destOrd="0" parTransId="{9724BFD1-A30D-498C-9A62-5214274FC550}" sibTransId="{3AF0966F-883D-4F7E-AC1F-C290C03D5D30}"/>
    <dgm:cxn modelId="{7D1D287E-90CD-4D95-B474-97414086D71E}" srcId="{65648FCC-D5FF-4F64-9160-4D6E41D94FFF}" destId="{E2B46A0C-0A46-4DBA-B37A-F818F124FF2F}" srcOrd="1" destOrd="0" parTransId="{D2352107-67A7-4F71-A0E2-C62096AE0993}" sibTransId="{43269518-ED00-47A1-853B-3CE7A487C472}"/>
    <dgm:cxn modelId="{013A02BD-25F6-468B-86D2-F50B9AEB5AA5}" type="presOf" srcId="{19936EC7-B873-4ED6-8728-9300D8079664}" destId="{6F7CF770-0F55-4E9F-B1A4-3362580060E0}" srcOrd="0" destOrd="0" presId="urn:microsoft.com/office/officeart/2005/8/layout/hierarchy1"/>
    <dgm:cxn modelId="{03FA9AD6-DB7E-4676-A427-B331CB6A04D6}" type="presOf" srcId="{E2B46A0C-0A46-4DBA-B37A-F818F124FF2F}" destId="{712B3928-0A08-4D2E-9B42-6BBFA8DD2BDF}" srcOrd="0" destOrd="0" presId="urn:microsoft.com/office/officeart/2005/8/layout/hierarchy1"/>
    <dgm:cxn modelId="{2126DEF7-E3FE-4050-BAF8-DB8B6D1C46C7}" type="presOf" srcId="{58121384-A2F3-485C-A089-FA7572D1A46A}" destId="{667CD4B7-CEC8-4268-ADFD-CAEB7260FC48}" srcOrd="0" destOrd="0" presId="urn:microsoft.com/office/officeart/2005/8/layout/hierarchy1"/>
    <dgm:cxn modelId="{3B91EDBE-7D41-4907-9709-68735D87C2B4}" type="presParOf" srcId="{79AFE07C-D6D7-40FB-9726-F820D4458B96}" destId="{ED2385FE-F787-4CC8-826D-BC33DDE62813}" srcOrd="0" destOrd="0" presId="urn:microsoft.com/office/officeart/2005/8/layout/hierarchy1"/>
    <dgm:cxn modelId="{7C9CDD83-9783-4C0D-8609-47B09F5851EF}" type="presParOf" srcId="{ED2385FE-F787-4CC8-826D-BC33DDE62813}" destId="{11D48FB9-7771-412C-84C2-8FF230956524}" srcOrd="0" destOrd="0" presId="urn:microsoft.com/office/officeart/2005/8/layout/hierarchy1"/>
    <dgm:cxn modelId="{02053D75-96D4-4E95-807E-30930D9F9901}" type="presParOf" srcId="{11D48FB9-7771-412C-84C2-8FF230956524}" destId="{89D76A67-B0CF-4ACE-890F-B058AEC60683}" srcOrd="0" destOrd="0" presId="urn:microsoft.com/office/officeart/2005/8/layout/hierarchy1"/>
    <dgm:cxn modelId="{C69E767B-A8CC-4F8F-8B94-B8448DD3F130}" type="presParOf" srcId="{11D48FB9-7771-412C-84C2-8FF230956524}" destId="{667CD4B7-CEC8-4268-ADFD-CAEB7260FC48}" srcOrd="1" destOrd="0" presId="urn:microsoft.com/office/officeart/2005/8/layout/hierarchy1"/>
    <dgm:cxn modelId="{93E824EC-257F-4909-9D95-ACCAB2CFAF1B}" type="presParOf" srcId="{ED2385FE-F787-4CC8-826D-BC33DDE62813}" destId="{10302E58-B47D-44C7-B044-EDF4376F4800}" srcOrd="1" destOrd="0" presId="urn:microsoft.com/office/officeart/2005/8/layout/hierarchy1"/>
    <dgm:cxn modelId="{F6156908-C044-4847-9C2A-C70E582F494B}" type="presParOf" srcId="{79AFE07C-D6D7-40FB-9726-F820D4458B96}" destId="{8CD7CBE4-0205-40F5-84FB-726305F9214D}" srcOrd="1" destOrd="0" presId="urn:microsoft.com/office/officeart/2005/8/layout/hierarchy1"/>
    <dgm:cxn modelId="{DC4B73A7-8AB5-4144-B49B-5B707DA580AC}" type="presParOf" srcId="{8CD7CBE4-0205-40F5-84FB-726305F9214D}" destId="{2F281C7C-4726-4A14-B6D7-E64CA310223D}" srcOrd="0" destOrd="0" presId="urn:microsoft.com/office/officeart/2005/8/layout/hierarchy1"/>
    <dgm:cxn modelId="{C1F92F49-CBA2-45ED-BD60-CC5F8A8F1026}" type="presParOf" srcId="{2F281C7C-4726-4A14-B6D7-E64CA310223D}" destId="{B3EBFE49-156E-41BE-93B7-75652754CBD4}" srcOrd="0" destOrd="0" presId="urn:microsoft.com/office/officeart/2005/8/layout/hierarchy1"/>
    <dgm:cxn modelId="{B0C97890-0F11-4C55-8EBB-0E17682F58A7}" type="presParOf" srcId="{2F281C7C-4726-4A14-B6D7-E64CA310223D}" destId="{712B3928-0A08-4D2E-9B42-6BBFA8DD2BDF}" srcOrd="1" destOrd="0" presId="urn:microsoft.com/office/officeart/2005/8/layout/hierarchy1"/>
    <dgm:cxn modelId="{2D68432F-D7BD-4737-89AF-30CF9EF449FD}" type="presParOf" srcId="{8CD7CBE4-0205-40F5-84FB-726305F9214D}" destId="{BA820B29-AFB7-43F8-AF56-6D180B66598E}" srcOrd="1" destOrd="0" presId="urn:microsoft.com/office/officeart/2005/8/layout/hierarchy1"/>
    <dgm:cxn modelId="{6F47510C-D0E0-44E0-A18C-25E541D49A52}" type="presParOf" srcId="{79AFE07C-D6D7-40FB-9726-F820D4458B96}" destId="{E43E32A8-1392-44FC-AD74-06669BD32343}" srcOrd="2" destOrd="0" presId="urn:microsoft.com/office/officeart/2005/8/layout/hierarchy1"/>
    <dgm:cxn modelId="{3960C369-5DFC-4C37-BC7E-AC8848CB97F5}" type="presParOf" srcId="{E43E32A8-1392-44FC-AD74-06669BD32343}" destId="{A9426359-2BB6-4425-87E5-421A9C5AB708}" srcOrd="0" destOrd="0" presId="urn:microsoft.com/office/officeart/2005/8/layout/hierarchy1"/>
    <dgm:cxn modelId="{79C74F92-0B40-4624-AD7E-408AB0D22FB3}" type="presParOf" srcId="{A9426359-2BB6-4425-87E5-421A9C5AB708}" destId="{79C2C9B4-2D72-463C-96CB-2373B60BB594}" srcOrd="0" destOrd="0" presId="urn:microsoft.com/office/officeart/2005/8/layout/hierarchy1"/>
    <dgm:cxn modelId="{B712CE62-8B6F-42BF-8C06-6A5C45E2F9CB}" type="presParOf" srcId="{A9426359-2BB6-4425-87E5-421A9C5AB708}" destId="{6F7CF770-0F55-4E9F-B1A4-3362580060E0}" srcOrd="1" destOrd="0" presId="urn:microsoft.com/office/officeart/2005/8/layout/hierarchy1"/>
    <dgm:cxn modelId="{D325DE60-80A5-452F-8B29-726F375B320F}" type="presParOf" srcId="{E43E32A8-1392-44FC-AD74-06669BD32343}" destId="{F7733327-BEF6-44AC-A8B9-4AE60BFC84F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D76A67-B0CF-4ACE-890F-B058AEC60683}">
      <dsp:nvSpPr>
        <dsp:cNvPr id="0" name=""/>
        <dsp:cNvSpPr/>
      </dsp:nvSpPr>
      <dsp:spPr>
        <a:xfrm>
          <a:off x="0" y="1074100"/>
          <a:ext cx="2772616" cy="1760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67CD4B7-CEC8-4268-ADFD-CAEB7260FC48}">
      <dsp:nvSpPr>
        <dsp:cNvPr id="0" name=""/>
        <dsp:cNvSpPr/>
      </dsp:nvSpPr>
      <dsp:spPr>
        <a:xfrm>
          <a:off x="308068" y="1366765"/>
          <a:ext cx="2772616" cy="17606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Week 7 - </a:t>
          </a:r>
          <a:r>
            <a:rPr lang="en-US" sz="2000" b="0" i="0" kern="1200" dirty="0"/>
            <a:t>Logistic Regression </a:t>
          </a:r>
          <a:r>
            <a:rPr lang="en-US" sz="2000" b="0" i="0" kern="1200" dirty="0" err="1"/>
            <a:t>XGBoost</a:t>
          </a:r>
          <a:endParaRPr lang="en-US" sz="2000" b="0" i="0" kern="1200" dirty="0"/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359635" y="1418332"/>
        <a:ext cx="2669482" cy="1657477"/>
      </dsp:txXfrm>
    </dsp:sp>
    <dsp:sp modelId="{B3EBFE49-156E-41BE-93B7-75652754CBD4}">
      <dsp:nvSpPr>
        <dsp:cNvPr id="0" name=""/>
        <dsp:cNvSpPr/>
      </dsp:nvSpPr>
      <dsp:spPr>
        <a:xfrm>
          <a:off x="3388753" y="1074100"/>
          <a:ext cx="2772616" cy="1760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12B3928-0A08-4D2E-9B42-6BBFA8DD2BDF}">
      <dsp:nvSpPr>
        <dsp:cNvPr id="0" name=""/>
        <dsp:cNvSpPr/>
      </dsp:nvSpPr>
      <dsp:spPr>
        <a:xfrm>
          <a:off x="3696821" y="1366765"/>
          <a:ext cx="2772616" cy="17606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Week 8 - f</a:t>
          </a:r>
          <a:r>
            <a:rPr lang="en-US" sz="2000" b="0" i="0" kern="1200" dirty="0"/>
            <a:t>orecasting component to predict shipment volume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 dirty="0"/>
        </a:p>
      </dsp:txBody>
      <dsp:txXfrm>
        <a:off x="3748388" y="1418332"/>
        <a:ext cx="2669482" cy="1657477"/>
      </dsp:txXfrm>
    </dsp:sp>
    <dsp:sp modelId="{79C2C9B4-2D72-463C-96CB-2373B60BB594}">
      <dsp:nvSpPr>
        <dsp:cNvPr id="0" name=""/>
        <dsp:cNvSpPr/>
      </dsp:nvSpPr>
      <dsp:spPr>
        <a:xfrm>
          <a:off x="6777506" y="1074100"/>
          <a:ext cx="2772616" cy="1760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F7CF770-0F55-4E9F-B1A4-3362580060E0}">
      <dsp:nvSpPr>
        <dsp:cNvPr id="0" name=""/>
        <dsp:cNvSpPr/>
      </dsp:nvSpPr>
      <dsp:spPr>
        <a:xfrm>
          <a:off x="7085574" y="1366765"/>
          <a:ext cx="2772616" cy="17606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Week 8 - Final Presentation</a:t>
          </a:r>
        </a:p>
      </dsp:txBody>
      <dsp:txXfrm>
        <a:off x="7137141" y="1418332"/>
        <a:ext cx="2669482" cy="16574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8148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811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2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75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96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4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33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888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64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639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96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4A82808-79E8-4F4B-AB0D-9006A0330DC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60903C6-846F-4EB8-BE6C-133C2FF1AB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09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2F614DA-B02F-4FFD-96B0-85F2695C5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406"/>
            <a:ext cx="12207240" cy="68608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76B3A5-493A-486E-9673-07E096C0A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88934"/>
            <a:ext cx="12207240" cy="266906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9FF97B-1B8B-55B1-3887-778ABAF2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4452182"/>
            <a:ext cx="9692640" cy="1596006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>
                    <a:alpha val="80000"/>
                  </a:schemeClr>
                </a:solidFill>
              </a:rPr>
              <a:t>Predicting Profitability in Logistics Operations Using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01B2B-E232-7B32-7E98-C789A94C4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699990"/>
            <a:ext cx="8595360" cy="303959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Maryi Tatiana Palacios Giraldo</a:t>
            </a:r>
            <a:br>
              <a:rPr lang="en-US" dirty="0"/>
            </a:br>
            <a:r>
              <a:rPr lang="en-US" dirty="0"/>
              <a:t>Master of Science in Data Science</a:t>
            </a:r>
            <a:br>
              <a:rPr lang="en-US" dirty="0"/>
            </a:br>
            <a:r>
              <a:rPr lang="en-US" dirty="0"/>
              <a:t>Regis University</a:t>
            </a:r>
            <a:br>
              <a:rPr lang="en-US" dirty="0"/>
            </a:br>
            <a:r>
              <a:rPr lang="en-US" dirty="0"/>
              <a:t>July 2026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757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F1B75-C6AA-F003-B579-321E4225A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Model Performance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C2FB7-5CC5-ACA1-F82E-0F7CB6529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The model now relies on operational and structural shipment characteristics rather than direct financial signals</a:t>
            </a:r>
          </a:p>
          <a:p>
            <a:pPr marL="0" indent="0">
              <a:buNone/>
            </a:pPr>
            <a:r>
              <a:rPr lang="en-US" b="1" dirty="0"/>
              <a:t>Before</a:t>
            </a:r>
          </a:p>
          <a:p>
            <a:r>
              <a:rPr lang="en-US" dirty="0" err="1"/>
              <a:t>cost_ratio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["Cost"] / (</a:t>
            </a:r>
            <a:r>
              <a:rPr lang="en-US" dirty="0" err="1"/>
              <a:t>df</a:t>
            </a:r>
            <a:r>
              <a:rPr lang="en-US" dirty="0"/>
              <a:t>["Revenue"] + 1)</a:t>
            </a:r>
          </a:p>
          <a:p>
            <a:r>
              <a:rPr lang="en-US" dirty="0" err="1"/>
              <a:t>expense_ratio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["Total Expense"] / </a:t>
            </a:r>
            <a:r>
              <a:rPr lang="en-US" dirty="0" err="1"/>
              <a:t>df</a:t>
            </a:r>
            <a:r>
              <a:rPr lang="en-US" dirty="0"/>
              <a:t>["Total Income"]</a:t>
            </a:r>
          </a:p>
          <a:p>
            <a:r>
              <a:rPr lang="en-US" dirty="0" err="1"/>
              <a:t>profit_margin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["Job Profit"] / </a:t>
            </a:r>
            <a:r>
              <a:rPr lang="en-US" dirty="0" err="1"/>
              <a:t>df</a:t>
            </a:r>
            <a:r>
              <a:rPr lang="en-US" dirty="0"/>
              <a:t>["Revenue"]</a:t>
            </a:r>
            <a:br>
              <a:rPr lang="en-US" dirty="0"/>
            </a:br>
            <a:endParaRPr lang="en-US" dirty="0"/>
          </a:p>
          <a:p>
            <a:r>
              <a:rPr lang="en-US" dirty="0" err="1"/>
              <a:t>revenue_per_weight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["Revenue"] / </a:t>
            </a:r>
            <a:r>
              <a:rPr lang="en-US" dirty="0" err="1"/>
              <a:t>df</a:t>
            </a:r>
            <a:r>
              <a:rPr lang="en-US" dirty="0"/>
              <a:t>["Weight"]</a:t>
            </a:r>
          </a:p>
          <a:p>
            <a:r>
              <a:rPr lang="en-US" dirty="0" err="1"/>
              <a:t>revenue_per_volume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["Revenue"] / </a:t>
            </a:r>
            <a:r>
              <a:rPr lang="en-US" dirty="0" err="1"/>
              <a:t>df</a:t>
            </a:r>
            <a:r>
              <a:rPr lang="en-US" dirty="0"/>
              <a:t>["Volume"]</a:t>
            </a:r>
          </a:p>
          <a:p>
            <a:r>
              <a:rPr lang="en-US" dirty="0" err="1"/>
              <a:t>containers_efficiency</a:t>
            </a:r>
            <a:r>
              <a:rPr lang="en-US" dirty="0"/>
              <a:t> = </a:t>
            </a:r>
            <a:r>
              <a:rPr lang="en-US" dirty="0" err="1"/>
              <a:t>df</a:t>
            </a:r>
            <a:r>
              <a:rPr lang="en-US" dirty="0"/>
              <a:t>["Revenue"] / </a:t>
            </a:r>
            <a:r>
              <a:rPr lang="en-US" dirty="0" err="1"/>
              <a:t>df</a:t>
            </a:r>
            <a:r>
              <a:rPr lang="en-US" dirty="0"/>
              <a:t>["Container Count"]</a:t>
            </a:r>
          </a:p>
          <a:p>
            <a:r>
              <a:rPr lang="en-US" b="1" dirty="0" err="1"/>
              <a:t>Información</a:t>
            </a:r>
            <a:r>
              <a:rPr lang="en-US" b="1" dirty="0"/>
              <a:t> </a:t>
            </a:r>
            <a:r>
              <a:rPr lang="en-US" b="1" dirty="0" err="1"/>
              <a:t>directamente</a:t>
            </a:r>
            <a:r>
              <a:rPr lang="en-US" b="1" dirty="0"/>
              <a:t> </a:t>
            </a:r>
            <a:r>
              <a:rPr lang="en-US" b="1" dirty="0" err="1"/>
              <a:t>relacionada</a:t>
            </a:r>
            <a:r>
              <a:rPr lang="en-US" b="1" dirty="0"/>
              <a:t> con profit </a:t>
            </a:r>
            <a:r>
              <a:rPr lang="en-US" dirty="0" err="1"/>
              <a:t>correlacionadas</a:t>
            </a:r>
            <a:r>
              <a:rPr lang="en-US" dirty="0"/>
              <a:t> con Profit</a:t>
            </a:r>
          </a:p>
          <a:p>
            <a:pPr fontAlgn="t"/>
            <a:r>
              <a:rPr lang="en-US" dirty="0"/>
              <a:t>Initial model achieved near-perfect results</a:t>
            </a:r>
            <a:br>
              <a:rPr lang="en-US" dirty="0"/>
            </a:br>
            <a:r>
              <a:rPr lang="en-US" dirty="0"/>
              <a:t>(Accuracy ≈ 99%, ROC-AUC ≈ 1.00)</a:t>
            </a:r>
          </a:p>
          <a:p>
            <a:pPr fontAlgn="t"/>
            <a:r>
              <a:rPr lang="en-US" dirty="0"/>
              <a:t>Financial variables such as </a:t>
            </a:r>
            <a:r>
              <a:rPr lang="en-US" dirty="0" err="1"/>
              <a:t>cost_ratio</a:t>
            </a:r>
            <a:r>
              <a:rPr lang="en-US" dirty="0"/>
              <a:t> and revenue-based features were included</a:t>
            </a:r>
          </a:p>
          <a:p>
            <a:pPr fontAlgn="t"/>
            <a:r>
              <a:rPr lang="en-US" dirty="0"/>
              <a:t>These variables were directly related to the target (profit)</a:t>
            </a:r>
          </a:p>
          <a:p>
            <a:pPr fontAlgn="t"/>
            <a:r>
              <a:rPr lang="en-US" dirty="0"/>
              <a:t>Result: </a:t>
            </a:r>
            <a:r>
              <a:rPr lang="en-US" b="1" dirty="0"/>
              <a:t>data leakage</a:t>
            </a:r>
            <a:endParaRPr lang="en-US" dirty="0"/>
          </a:p>
          <a:p>
            <a:pPr fontAlgn="t"/>
            <a:endParaRPr lang="en-US" dirty="0"/>
          </a:p>
          <a:p>
            <a:endParaRPr lang="en-US" dirty="0"/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7EBF39-C87F-E52D-1EEE-398F69B02AD5}"/>
              </a:ext>
            </a:extLst>
          </p:cNvPr>
          <p:cNvSpPr txBox="1"/>
          <p:nvPr/>
        </p:nvSpPr>
        <p:spPr>
          <a:xfrm>
            <a:off x="4917186" y="2115604"/>
            <a:ext cx="61036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initially, the model showed near perfect performance, which raised concerns. After reviewing the features, I found that financial variables were directly related to profitability, causing data leakage.”</a:t>
            </a:r>
          </a:p>
        </p:txBody>
      </p:sp>
    </p:spTree>
    <p:extLst>
      <p:ext uri="{BB962C8B-B14F-4D97-AF65-F5344CB8AC3E}">
        <p14:creationId xmlns:p14="http://schemas.microsoft.com/office/powerpoint/2010/main" val="220453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5BD3C-7B6F-607A-E165-E2930BDDA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Refinement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865FA-8572-2FD1-7203-DD28E95E7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Cambie</a:t>
            </a:r>
            <a:r>
              <a:rPr lang="en-US" dirty="0"/>
              <a:t> a ✅ Weight</a:t>
            </a:r>
            <a:br>
              <a:rPr lang="en-US" dirty="0"/>
            </a:br>
            <a:r>
              <a:rPr lang="en-US" dirty="0"/>
              <a:t>✅ Volume</a:t>
            </a:r>
            <a:br>
              <a:rPr lang="en-US" dirty="0"/>
            </a:br>
            <a:r>
              <a:rPr lang="en-US" dirty="0"/>
              <a:t>✅ Packs</a:t>
            </a:r>
            <a:br>
              <a:rPr lang="en-US" dirty="0"/>
            </a:br>
            <a:r>
              <a:rPr lang="en-US" dirty="0"/>
              <a:t>✅ Container Count</a:t>
            </a:r>
            <a:br>
              <a:rPr lang="en-US" dirty="0"/>
            </a:br>
            <a:r>
              <a:rPr lang="en-US" dirty="0"/>
              <a:t>✅ TEU</a:t>
            </a:r>
            <a:br>
              <a:rPr lang="en-US" dirty="0"/>
            </a:br>
            <a:r>
              <a:rPr lang="en-US" dirty="0"/>
              <a:t>✅ Invoice Lines</a:t>
            </a:r>
            <a:br>
              <a:rPr lang="en-US" dirty="0"/>
            </a:br>
            <a:r>
              <a:rPr lang="en-US" dirty="0"/>
              <a:t>✅ temporal features</a:t>
            </a:r>
          </a:p>
          <a:p>
            <a:endParaRPr lang="en-US" dirty="0"/>
          </a:p>
          <a:p>
            <a:pPr fontAlgn="t"/>
            <a:r>
              <a:rPr lang="en-US" dirty="0"/>
              <a:t>Model Improvement</a:t>
            </a:r>
          </a:p>
          <a:p>
            <a:pPr fontAlgn="t"/>
            <a:r>
              <a:rPr lang="en-US" dirty="0"/>
              <a:t>Removed revenue- and cost-based features</a:t>
            </a:r>
          </a:p>
          <a:p>
            <a:pPr fontAlgn="t"/>
            <a:r>
              <a:rPr lang="en-US" dirty="0"/>
              <a:t>Focused on pre-shipment variables: </a:t>
            </a:r>
          </a:p>
          <a:p>
            <a:pPr lvl="1" fontAlgn="t"/>
            <a:r>
              <a:rPr lang="en-US" dirty="0"/>
              <a:t>Shipment structure</a:t>
            </a:r>
          </a:p>
          <a:p>
            <a:pPr lvl="1" fontAlgn="t"/>
            <a:r>
              <a:rPr lang="en-US" dirty="0"/>
              <a:t>Operational features</a:t>
            </a:r>
          </a:p>
          <a:p>
            <a:pPr lvl="1" fontAlgn="t"/>
            <a:r>
              <a:rPr lang="en-US" dirty="0"/>
              <a:t>Temporal variables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79EA71-8FB4-0404-8719-0D807C74F88B}"/>
              </a:ext>
            </a:extLst>
          </p:cNvPr>
          <p:cNvSpPr txBox="1"/>
          <p:nvPr/>
        </p:nvSpPr>
        <p:spPr>
          <a:xfrm>
            <a:off x="5191506" y="1691322"/>
            <a:ext cx="6103620" cy="690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“To fix this, I removed all variables that contained direct financial information and rebuilt the model using only features available before shipment execution.”</a:t>
            </a:r>
          </a:p>
        </p:txBody>
      </p:sp>
    </p:spTree>
    <p:extLst>
      <p:ext uri="{BB962C8B-B14F-4D97-AF65-F5344CB8AC3E}">
        <p14:creationId xmlns:p14="http://schemas.microsoft.com/office/powerpoint/2010/main" val="306475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F105E-1AA7-A532-606E-F17D7D498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t"/>
            <a:r>
              <a:rPr lang="en-US" dirty="0"/>
              <a:t>Model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03574-00BA-FAD5-08EF-9CE348B59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3991E5-2EE2-8BAD-7E51-D8492DD3A487}"/>
              </a:ext>
            </a:extLst>
          </p:cNvPr>
          <p:cNvGraphicFramePr>
            <a:graphicFrameLocks noGrp="1"/>
          </p:cNvGraphicFramePr>
          <p:nvPr/>
        </p:nvGraphicFramePr>
        <p:xfrm>
          <a:off x="1262063" y="3090069"/>
          <a:ext cx="8594724" cy="1828800"/>
        </p:xfrm>
        <a:graphic>
          <a:graphicData uri="http://schemas.openxmlformats.org/drawingml/2006/table">
            <a:tbl>
              <a:tblPr/>
              <a:tblGrid>
                <a:gridCol w="2864908">
                  <a:extLst>
                    <a:ext uri="{9D8B030D-6E8A-4147-A177-3AD203B41FA5}">
                      <a16:colId xmlns:a16="http://schemas.microsoft.com/office/drawing/2014/main" val="2259330409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3712778887"/>
                    </a:ext>
                  </a:extLst>
                </a:gridCol>
                <a:gridCol w="2864908">
                  <a:extLst>
                    <a:ext uri="{9D8B030D-6E8A-4147-A177-3AD203B41FA5}">
                      <a16:colId xmlns:a16="http://schemas.microsoft.com/office/drawing/2014/main" val="1196824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3494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Model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Accuracy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ROC-AUC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9381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Logistic Regression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0.89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0.67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58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Random Forest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1776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XGBoost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0.94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0.93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83818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47AF47E-C62C-CCCB-2E80-67BCC5ECE71A}"/>
              </a:ext>
            </a:extLst>
          </p:cNvPr>
          <p:cNvSpPr txBox="1"/>
          <p:nvPr/>
        </p:nvSpPr>
        <p:spPr>
          <a:xfrm>
            <a:off x="5046155" y="1859270"/>
            <a:ext cx="61055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“Logistic Regression provided a baseline, but ensemble models significantly improved performance. Random Forest and </a:t>
            </a:r>
            <a:r>
              <a:rPr lang="en-US" dirty="0" err="1"/>
              <a:t>XGBoost</a:t>
            </a:r>
            <a:r>
              <a:rPr lang="en-US" dirty="0"/>
              <a:t> achieved similar results, confirming model robustness.”</a:t>
            </a:r>
          </a:p>
        </p:txBody>
      </p:sp>
    </p:spTree>
    <p:extLst>
      <p:ext uri="{BB962C8B-B14F-4D97-AF65-F5344CB8AC3E}">
        <p14:creationId xmlns:p14="http://schemas.microsoft.com/office/powerpoint/2010/main" val="36680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95D92-2A42-D27D-7303-4C61CE4CD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8C246-0101-96DF-0124-335F0827A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US" b="1" dirty="0"/>
              <a:t>Title:</a:t>
            </a:r>
            <a:r>
              <a:rPr lang="en-US" dirty="0"/>
              <a:t> Key Insights</a:t>
            </a:r>
          </a:p>
          <a:p>
            <a:pPr fontAlgn="t"/>
            <a:r>
              <a:rPr lang="en-US" dirty="0"/>
              <a:t>Profitability is not driven by a single factor</a:t>
            </a:r>
          </a:p>
          <a:p>
            <a:pPr fontAlgn="t"/>
            <a:r>
              <a:rPr lang="en-US" dirty="0"/>
              <a:t>Shipment structure and timing play a key role</a:t>
            </a:r>
          </a:p>
          <a:p>
            <a:pPr fontAlgn="t"/>
            <a:r>
              <a:rPr lang="en-US" dirty="0"/>
              <a:t>Model relies only on pre-shipment features</a:t>
            </a:r>
          </a:p>
          <a:p>
            <a:pPr fontAlgn="t"/>
            <a:r>
              <a:rPr lang="en-US" dirty="0"/>
              <a:t>Final message:</a:t>
            </a:r>
          </a:p>
          <a:p>
            <a:pPr fontAlgn="t"/>
            <a:r>
              <a:rPr lang="en-US" b="1" dirty="0"/>
              <a:t>Efficient shipments are more likely to be profitable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F87938-84CD-D748-232F-9E0CF03958DC}"/>
              </a:ext>
            </a:extLst>
          </p:cNvPr>
          <p:cNvSpPr txBox="1"/>
          <p:nvPr/>
        </p:nvSpPr>
        <p:spPr>
          <a:xfrm>
            <a:off x="4990338" y="1090136"/>
            <a:ext cx="61036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The final model shows that profitability depends on a combination of shipment characteristics, timing, and operational efficiency. Importantly, it uses only information available before execution, making it applicable in real-world decision-making.”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179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8A41F-FE75-A497-1C42-B6A4EA408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Final Model</a:t>
            </a:r>
            <a:br>
              <a:rPr lang="en-US"/>
            </a:b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E7A98C-9E91-2DEC-1456-80C8D3FA707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ts val="1500"/>
              </a:lnSpc>
              <a:buNone/>
            </a:pPr>
            <a:r>
              <a:rPr lang="en-US" b="0" i="0" dirty="0">
                <a:effectLst/>
                <a:latin typeface="Segoe UI" panose="020B0502040204020203" pitchFamily="34" charset="0"/>
              </a:rPr>
              <a:t>“Although both Random Forest and </a:t>
            </a:r>
            <a:r>
              <a:rPr lang="en-US" b="0" i="0" dirty="0" err="1">
                <a:effectLst/>
                <a:latin typeface="Segoe UI" panose="020B0502040204020203" pitchFamily="34" charset="0"/>
              </a:rPr>
              <a:t>XGBoost</a:t>
            </a:r>
            <a:r>
              <a:rPr lang="en-US" b="0" i="0" dirty="0">
                <a:effectLst/>
                <a:latin typeface="Segoe UI" panose="020B0502040204020203" pitchFamily="34" charset="0"/>
              </a:rPr>
              <a:t> achieved similar performance, Random Forest was selected as the final model due to its strong results and greater interpretability.”</a:t>
            </a:r>
          </a:p>
        </p:txBody>
      </p:sp>
    </p:spTree>
    <p:extLst>
      <p:ext uri="{BB962C8B-B14F-4D97-AF65-F5344CB8AC3E}">
        <p14:creationId xmlns:p14="http://schemas.microsoft.com/office/powerpoint/2010/main" val="1815767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60F70-BF94-A251-AB15-92957164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9A49A-7061-7D8C-C60B-6E7964D12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cost_ratio</a:t>
            </a:r>
            <a:endParaRPr lang="en-US" dirty="0"/>
          </a:p>
          <a:p>
            <a:r>
              <a:rPr lang="en-US" dirty="0" err="1"/>
              <a:t>expense_ratio</a:t>
            </a:r>
            <a:endParaRPr lang="en-US" dirty="0"/>
          </a:p>
          <a:p>
            <a:r>
              <a:rPr lang="en-US" dirty="0" err="1"/>
              <a:t>containers_efficiency</a:t>
            </a:r>
            <a:endParaRPr lang="en-US" dirty="0"/>
          </a:p>
          <a:p>
            <a:r>
              <a:rPr lang="en-US" dirty="0" err="1"/>
              <a:t>revenue_per_volume</a:t>
            </a:r>
            <a:endParaRPr lang="en-US" dirty="0"/>
          </a:p>
          <a:p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1194121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D8760-C0C5-BA04-5886-1169DC5CB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BD656-1EC3-EFFD-DA2A-5D871E2BE5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Cost efficiency drives profit</a:t>
            </a:r>
          </a:p>
          <a:p>
            <a:r>
              <a:rPr lang="en-US" dirty="0"/>
              <a:t>Shipment value matters</a:t>
            </a:r>
          </a:p>
          <a:p>
            <a:r>
              <a:rPr lang="en-US" dirty="0"/>
              <a:t>Seasonality exists</a:t>
            </a:r>
          </a:p>
        </p:txBody>
      </p:sp>
    </p:spTree>
    <p:extLst>
      <p:ext uri="{BB962C8B-B14F-4D97-AF65-F5344CB8AC3E}">
        <p14:creationId xmlns:p14="http://schemas.microsoft.com/office/powerpoint/2010/main" val="2321249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F0F5F-D66B-EBCD-0247-A722C7F0F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365760"/>
            <a:ext cx="9858383" cy="1325562"/>
          </a:xfrm>
        </p:spPr>
        <p:txBody>
          <a:bodyPr>
            <a:normAutofit/>
          </a:bodyPr>
          <a:lstStyle/>
          <a:p>
            <a:r>
              <a:rPr lang="en-US" dirty="0"/>
              <a:t>Next steps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0A776C3-2A5E-D5C7-FD79-4269A2C55D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9750617"/>
              </p:ext>
            </p:extLst>
          </p:nvPr>
        </p:nvGraphicFramePr>
        <p:xfrm>
          <a:off x="1262063" y="2013055"/>
          <a:ext cx="985819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3858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A28C9-EA75-FB4C-AB77-179102267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5200" y="967167"/>
            <a:ext cx="4151306" cy="2374516"/>
          </a:xfrm>
          <a:scene3d>
            <a:camera prst="perspectiveBelow"/>
            <a:lightRig rig="threePt" dir="t"/>
          </a:scene3d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sz="4800"/>
              <a:t>Thank you 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D920CB55-234D-266D-544F-783C3B3623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9869" y="805583"/>
            <a:ext cx="4660762" cy="4660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iew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2351</TotalTime>
  <Words>492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Century Schoolbook</vt:lpstr>
      <vt:lpstr>Segoe UI</vt:lpstr>
      <vt:lpstr>Wingdings 2</vt:lpstr>
      <vt:lpstr>View</vt:lpstr>
      <vt:lpstr>Predicting Profitability in Logistics Operations Using ML</vt:lpstr>
      <vt:lpstr>Initial Model Performance </vt:lpstr>
      <vt:lpstr>Model Refinement </vt:lpstr>
      <vt:lpstr>Model Comparison</vt:lpstr>
      <vt:lpstr>Final Insights</vt:lpstr>
      <vt:lpstr>Final Model </vt:lpstr>
      <vt:lpstr>Feature Importance</vt:lpstr>
      <vt:lpstr> Business Insights</vt:lpstr>
      <vt:lpstr>Next steps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tatiana palacios</dc:creator>
  <cp:lastModifiedBy>Tatiana Palacios</cp:lastModifiedBy>
  <cp:revision>20</cp:revision>
  <dcterms:created xsi:type="dcterms:W3CDTF">2026-01-20T02:49:40Z</dcterms:created>
  <dcterms:modified xsi:type="dcterms:W3CDTF">2026-06-16T22:01:10Z</dcterms:modified>
</cp:coreProperties>
</file>